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2"/>
  </p:notesMasterIdLst>
  <p:sldIdLst>
    <p:sldId id="256" r:id="rId2"/>
    <p:sldId id="265" r:id="rId3"/>
    <p:sldId id="266" r:id="rId4"/>
    <p:sldId id="268" r:id="rId5"/>
    <p:sldId id="269" r:id="rId6"/>
    <p:sldId id="270" r:id="rId7"/>
    <p:sldId id="273" r:id="rId8"/>
    <p:sldId id="274" r:id="rId9"/>
    <p:sldId id="272" r:id="rId10"/>
    <p:sldId id="271" r:id="rId11"/>
  </p:sldIdLst>
  <p:sldSz cx="12192000" cy="6858000"/>
  <p:notesSz cx="6858000" cy="9144000"/>
  <p:defaultTextStyle>
    <a:defPPr>
      <a:defRPr lang="fr-C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DB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D41FB5-FAE4-A6C0-2A7C-C36EDA97497B}" v="113" dt="2026-04-13T19:50:13.9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7" autoAdjust="0"/>
    <p:restoredTop sz="82260" autoAdjust="0"/>
  </p:normalViewPr>
  <p:slideViewPr>
    <p:cSldViewPr snapToGrid="0">
      <p:cViewPr varScale="1">
        <p:scale>
          <a:sx n="78" d="100"/>
          <a:sy n="78" d="100"/>
        </p:scale>
        <p:origin x="8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CD91D5-4186-4DA3-B93D-2860E43B2ECE}" type="datetimeFigureOut">
              <a:rPr lang="en-CA" smtClean="0"/>
              <a:t>2026-04-15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C8A3F-CFAD-4B6D-8CBC-D25447CA9CD7}" type="slidenum">
              <a:rPr lang="en-CA" smtClean="0"/>
              <a:t>‹#›</a:t>
            </a:fld>
            <a:endParaRPr lang="en-CA"/>
          </a:p>
        </p:txBody>
      </p:sp>
    </p:spTree>
    <p:extLst>
      <p:ext uri="{BB962C8B-B14F-4D97-AF65-F5344CB8AC3E}">
        <p14:creationId xmlns:p14="http://schemas.microsoft.com/office/powerpoint/2010/main" val="109284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To avoid making the same mistakes.</a:t>
            </a:r>
          </a:p>
          <a:p>
            <a:r>
              <a:rPr lang="en-US" dirty="0"/>
              <a:t>record of the materials that compose an artwork, the artwork’s production processes, information about past and present displays and any interventions that may have changed them.</a:t>
            </a:r>
            <a:endParaRPr lang="en-CA" dirty="0"/>
          </a:p>
        </p:txBody>
      </p:sp>
      <p:sp>
        <p:nvSpPr>
          <p:cNvPr id="4" name="Slide Number Placeholder 3"/>
          <p:cNvSpPr>
            <a:spLocks noGrp="1"/>
          </p:cNvSpPr>
          <p:nvPr>
            <p:ph type="sldNum" sz="quarter" idx="5"/>
          </p:nvPr>
        </p:nvSpPr>
        <p:spPr/>
        <p:txBody>
          <a:bodyPr/>
          <a:lstStyle/>
          <a:p>
            <a:fld id="{E20C8A3F-CFAD-4B6D-8CBC-D25447CA9CD7}" type="slidenum">
              <a:rPr lang="en-CA" smtClean="0"/>
              <a:t>6</a:t>
            </a:fld>
            <a:endParaRPr lang="en-CA"/>
          </a:p>
        </p:txBody>
      </p:sp>
    </p:spTree>
    <p:extLst>
      <p:ext uri="{BB962C8B-B14F-4D97-AF65-F5344CB8AC3E}">
        <p14:creationId xmlns:p14="http://schemas.microsoft.com/office/powerpoint/2010/main" val="3938590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F690B-C6D8-319C-8733-3ABF9C760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073B7-2D54-C866-64F2-6BD3E4839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6BD8E-BADC-3D76-ABF1-4F3C119FD6E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E987710-65FE-8EC7-813F-028DCDA4731C}"/>
              </a:ext>
            </a:extLst>
          </p:cNvPr>
          <p:cNvSpPr>
            <a:spLocks noGrp="1"/>
          </p:cNvSpPr>
          <p:nvPr>
            <p:ph type="sldNum" sz="quarter" idx="5"/>
          </p:nvPr>
        </p:nvSpPr>
        <p:spPr/>
        <p:txBody>
          <a:bodyPr/>
          <a:lstStyle/>
          <a:p>
            <a:fld id="{E20C8A3F-CFAD-4B6D-8CBC-D25447CA9CD7}" type="slidenum">
              <a:rPr lang="en-CA" smtClean="0"/>
              <a:t>7</a:t>
            </a:fld>
            <a:endParaRPr lang="en-CA"/>
          </a:p>
        </p:txBody>
      </p:sp>
    </p:spTree>
    <p:extLst>
      <p:ext uri="{BB962C8B-B14F-4D97-AF65-F5344CB8AC3E}">
        <p14:creationId xmlns:p14="http://schemas.microsoft.com/office/powerpoint/2010/main" val="157090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C0A6D-5F3D-116D-DB72-3251B6BEB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44E5F-6D22-7196-65A6-C125C7593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DA07E-DA24-15BF-DE46-01CD41F5808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8F18B47-E5A5-B46A-707A-0C27F9A8352D}"/>
              </a:ext>
            </a:extLst>
          </p:cNvPr>
          <p:cNvSpPr>
            <a:spLocks noGrp="1"/>
          </p:cNvSpPr>
          <p:nvPr>
            <p:ph type="sldNum" sz="quarter" idx="5"/>
          </p:nvPr>
        </p:nvSpPr>
        <p:spPr/>
        <p:txBody>
          <a:bodyPr/>
          <a:lstStyle/>
          <a:p>
            <a:fld id="{E20C8A3F-CFAD-4B6D-8CBC-D25447CA9CD7}" type="slidenum">
              <a:rPr lang="en-CA" smtClean="0"/>
              <a:t>8</a:t>
            </a:fld>
            <a:endParaRPr lang="en-CA"/>
          </a:p>
        </p:txBody>
      </p:sp>
    </p:spTree>
    <p:extLst>
      <p:ext uri="{BB962C8B-B14F-4D97-AF65-F5344CB8AC3E}">
        <p14:creationId xmlns:p14="http://schemas.microsoft.com/office/powerpoint/2010/main" val="2085998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D5E59-4116-D3E7-5690-566E03085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03350-4982-8811-2111-BB2D5AE00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415F5-56EB-0604-904A-40EB99ECF9F4}"/>
              </a:ext>
            </a:extLst>
          </p:cNvPr>
          <p:cNvSpPr>
            <a:spLocks noGrp="1"/>
          </p:cNvSpPr>
          <p:nvPr>
            <p:ph type="body" idx="1"/>
          </p:nvPr>
        </p:nvSpPr>
        <p:spPr/>
        <p:txBody>
          <a:bodyPr/>
          <a:lstStyle/>
          <a:p>
            <a:r>
              <a:rPr lang="en-US" dirty="0"/>
              <a:t>Documentation: To avoid making the same mistakes.</a:t>
            </a:r>
          </a:p>
          <a:p>
            <a:r>
              <a:rPr lang="en-US" dirty="0"/>
              <a:t>record of the materials that compose an artwork, the artwork’s production processes, information about past and present displays and any interventions that may have changed them.</a:t>
            </a:r>
            <a:endParaRPr lang="en-CA" dirty="0"/>
          </a:p>
        </p:txBody>
      </p:sp>
      <p:sp>
        <p:nvSpPr>
          <p:cNvPr id="4" name="Slide Number Placeholder 3">
            <a:extLst>
              <a:ext uri="{FF2B5EF4-FFF2-40B4-BE49-F238E27FC236}">
                <a16:creationId xmlns:a16="http://schemas.microsoft.com/office/drawing/2014/main" id="{BD4CA638-C08D-FE4F-4EBC-202B6E24F73C}"/>
              </a:ext>
            </a:extLst>
          </p:cNvPr>
          <p:cNvSpPr>
            <a:spLocks noGrp="1"/>
          </p:cNvSpPr>
          <p:nvPr>
            <p:ph type="sldNum" sz="quarter" idx="5"/>
          </p:nvPr>
        </p:nvSpPr>
        <p:spPr/>
        <p:txBody>
          <a:bodyPr/>
          <a:lstStyle/>
          <a:p>
            <a:fld id="{E20C8A3F-CFAD-4B6D-8CBC-D25447CA9CD7}" type="slidenum">
              <a:rPr lang="en-CA" smtClean="0"/>
              <a:t>9</a:t>
            </a:fld>
            <a:endParaRPr lang="en-CA"/>
          </a:p>
        </p:txBody>
      </p:sp>
    </p:spTree>
    <p:extLst>
      <p:ext uri="{BB962C8B-B14F-4D97-AF65-F5344CB8AC3E}">
        <p14:creationId xmlns:p14="http://schemas.microsoft.com/office/powerpoint/2010/main" val="77907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4/15/2026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180225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4/15/2026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283707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4/15/2026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972338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4/15/2026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178008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4/15/2026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6170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4/15/2026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85749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4/15/2026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32525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4/15/2026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46778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4/15/2026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78111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4/15/2026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33357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4/15/2026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69145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4/15/2026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59697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ECDF2D-3639-4EE9-A4F1-0D9F3235A2AD}"/>
              </a:ext>
            </a:extLst>
          </p:cNvPr>
          <p:cNvSpPr>
            <a:spLocks noGrp="1"/>
          </p:cNvSpPr>
          <p:nvPr>
            <p:ph type="ctrTitle"/>
          </p:nvPr>
        </p:nvSpPr>
        <p:spPr>
          <a:xfrm>
            <a:off x="912629" y="1371600"/>
            <a:ext cx="7388656" cy="2696866"/>
          </a:xfrm>
        </p:spPr>
        <p:txBody>
          <a:bodyPr/>
          <a:lstStyle/>
          <a:p>
            <a:r>
              <a:rPr lang="fr-CA" dirty="0" err="1">
                <a:ea typeface="+mj-lt"/>
                <a:cs typeface="+mj-lt"/>
              </a:rPr>
              <a:t>Preservation</a:t>
            </a:r>
            <a:r>
              <a:rPr lang="fr-CA" dirty="0">
                <a:ea typeface="+mj-lt"/>
                <a:cs typeface="+mj-lt"/>
              </a:rPr>
              <a:t> of Software-</a:t>
            </a:r>
            <a:r>
              <a:rPr lang="fr-CA" dirty="0" err="1">
                <a:ea typeface="+mj-lt"/>
                <a:cs typeface="+mj-lt"/>
              </a:rPr>
              <a:t>based</a:t>
            </a:r>
            <a:r>
              <a:rPr lang="fr-CA" dirty="0">
                <a:ea typeface="+mj-lt"/>
                <a:cs typeface="+mj-lt"/>
              </a:rPr>
              <a:t> Art at Tate</a:t>
            </a:r>
            <a:endParaRPr lang="fr-FR" dirty="0"/>
          </a:p>
        </p:txBody>
      </p:sp>
      <p:sp>
        <p:nvSpPr>
          <p:cNvPr id="3" name="Sous-titre 2">
            <a:extLst>
              <a:ext uri="{FF2B5EF4-FFF2-40B4-BE49-F238E27FC236}">
                <a16:creationId xmlns:a16="http://schemas.microsoft.com/office/drawing/2014/main" id="{B95294D7-A045-4C14-9634-F249C2A7B843}"/>
              </a:ext>
            </a:extLst>
          </p:cNvPr>
          <p:cNvSpPr>
            <a:spLocks noGrp="1"/>
          </p:cNvSpPr>
          <p:nvPr>
            <p:ph type="subTitle" idx="1"/>
          </p:nvPr>
        </p:nvSpPr>
        <p:spPr/>
        <p:txBody>
          <a:bodyPr vert="horz" lIns="91440" tIns="45720" rIns="91440" bIns="45720" rtlCol="0" anchor="t">
            <a:normAutofit/>
          </a:bodyPr>
          <a:lstStyle/>
          <a:p>
            <a:r>
              <a:rPr lang="fr-CA" dirty="0"/>
              <a:t>By </a:t>
            </a:r>
            <a:r>
              <a:rPr lang="fr-CA" dirty="0" err="1">
                <a:ea typeface="+mn-lt"/>
                <a:cs typeface="+mn-lt"/>
              </a:rPr>
              <a:t>Patrícia</a:t>
            </a:r>
            <a:r>
              <a:rPr lang="fr-CA" dirty="0">
                <a:ea typeface="+mn-lt"/>
                <a:cs typeface="+mn-lt"/>
              </a:rPr>
              <a:t> </a:t>
            </a:r>
            <a:r>
              <a:rPr lang="fr-CA" dirty="0" err="1">
                <a:ea typeface="+mn-lt"/>
                <a:cs typeface="+mn-lt"/>
              </a:rPr>
              <a:t>Falcão</a:t>
            </a:r>
            <a:r>
              <a:rPr lang="fr-CA" dirty="0">
                <a:ea typeface="+mn-lt"/>
                <a:cs typeface="+mn-lt"/>
              </a:rPr>
              <a:t>, 2017.</a:t>
            </a:r>
            <a:endParaRPr lang="fr-CA" dirty="0"/>
          </a:p>
        </p:txBody>
      </p:sp>
      <p:sp>
        <p:nvSpPr>
          <p:cNvPr id="4" name="ZoneTexte 3">
            <a:extLst>
              <a:ext uri="{FF2B5EF4-FFF2-40B4-BE49-F238E27FC236}">
                <a16:creationId xmlns:a16="http://schemas.microsoft.com/office/drawing/2014/main" id="{9B38C430-6DA5-E86C-5E2D-7825C636C7AC}"/>
              </a:ext>
            </a:extLst>
          </p:cNvPr>
          <p:cNvSpPr txBox="1"/>
          <p:nvPr/>
        </p:nvSpPr>
        <p:spPr>
          <a:xfrm>
            <a:off x="7862799" y="6368626"/>
            <a:ext cx="40102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dirty="0" err="1"/>
              <a:t>Presented</a:t>
            </a:r>
            <a:r>
              <a:rPr lang="fr-CA" dirty="0"/>
              <a:t> by Roxana Pena </a:t>
            </a:r>
            <a:r>
              <a:rPr lang="fr-CA" dirty="0" err="1"/>
              <a:t>Mendieta</a:t>
            </a:r>
            <a:endParaRPr lang="fr-CA" dirty="0"/>
          </a:p>
        </p:txBody>
      </p:sp>
    </p:spTree>
    <p:extLst>
      <p:ext uri="{BB962C8B-B14F-4D97-AF65-F5344CB8AC3E}">
        <p14:creationId xmlns:p14="http://schemas.microsoft.com/office/powerpoint/2010/main" val="954086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E325-A7B2-6187-BF8E-1FE0CB7CD3CA}"/>
              </a:ext>
            </a:extLst>
          </p:cNvPr>
          <p:cNvSpPr>
            <a:spLocks noGrp="1"/>
          </p:cNvSpPr>
          <p:nvPr>
            <p:ph type="title"/>
          </p:nvPr>
        </p:nvSpPr>
        <p:spPr/>
        <p:txBody>
          <a:bodyPr>
            <a:normAutofit fontScale="90000"/>
          </a:bodyPr>
          <a:lstStyle/>
          <a:p>
            <a:r>
              <a:rPr lang="en-US" b="1" dirty="0">
                <a:solidFill>
                  <a:srgbClr val="143D59"/>
                </a:solidFill>
                <a:latin typeface="Aptos Display" pitchFamily="34" charset="0"/>
                <a:ea typeface="Aptos Display" pitchFamily="34" charset="-122"/>
                <a:cs typeface="Aptos Display" pitchFamily="34" charset="-120"/>
              </a:rPr>
              <a:t>Artwork preservation means preserving both their experience and their technical history.</a:t>
            </a:r>
            <a:endParaRPr lang="en-CA" dirty="0"/>
          </a:p>
        </p:txBody>
      </p:sp>
      <p:sp>
        <p:nvSpPr>
          <p:cNvPr id="4" name="Date Placeholder 3">
            <a:extLst>
              <a:ext uri="{FF2B5EF4-FFF2-40B4-BE49-F238E27FC236}">
                <a16:creationId xmlns:a16="http://schemas.microsoft.com/office/drawing/2014/main" id="{F44D201D-760F-9479-B522-8F27D4E8D4EF}"/>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5" name="Footer Placeholder 4">
            <a:extLst>
              <a:ext uri="{FF2B5EF4-FFF2-40B4-BE49-F238E27FC236}">
                <a16:creationId xmlns:a16="http://schemas.microsoft.com/office/drawing/2014/main" id="{CD49C5B7-2C73-C2E7-B604-8E13B547E0E0}"/>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A089D60D-603F-7F91-5AB6-8146580A0D29}"/>
              </a:ext>
            </a:extLst>
          </p:cNvPr>
          <p:cNvSpPr>
            <a:spLocks noGrp="1"/>
          </p:cNvSpPr>
          <p:nvPr>
            <p:ph type="sldNum" sz="quarter" idx="12"/>
          </p:nvPr>
        </p:nvSpPr>
        <p:spPr/>
        <p:txBody>
          <a:bodyPr/>
          <a:lstStyle/>
          <a:p>
            <a:fld id="{70C12960-6E85-460F-B6E3-5B82CB31AF3D}" type="slidenum">
              <a:rPr lang="en-US" smtClean="0"/>
              <a:t>2</a:t>
            </a:fld>
            <a:endParaRPr lang="en-US" dirty="0"/>
          </a:p>
        </p:txBody>
      </p:sp>
      <p:sp>
        <p:nvSpPr>
          <p:cNvPr id="7" name="Subtitle 5">
            <a:extLst>
              <a:ext uri="{FF2B5EF4-FFF2-40B4-BE49-F238E27FC236}">
                <a16:creationId xmlns:a16="http://schemas.microsoft.com/office/drawing/2014/main" id="{43D8B2A5-12E2-3706-715A-CA09962BA62C}"/>
              </a:ext>
            </a:extLst>
          </p:cNvPr>
          <p:cNvSpPr>
            <a:spLocks noGrp="1"/>
          </p:cNvSpPr>
          <p:nvPr>
            <p:ph idx="1"/>
          </p:nvPr>
        </p:nvSpPr>
        <p:spPr>
          <a:xfrm>
            <a:off x="914400" y="2559050"/>
            <a:ext cx="10363200" cy="3382963"/>
          </a:xfrm>
        </p:spPr>
        <p:txBody>
          <a:bodyPr>
            <a:normAutofit/>
          </a:bodyPr>
          <a:lstStyle/>
          <a:p>
            <a:r>
              <a:rPr lang="fr-CA" dirty="0">
                <a:ea typeface="+mn-lt"/>
                <a:cs typeface="+mn-lt"/>
              </a:rPr>
              <a:t>This </a:t>
            </a:r>
            <a:r>
              <a:rPr lang="fr-CA" dirty="0" err="1">
                <a:ea typeface="+mn-lt"/>
                <a:cs typeface="+mn-lt"/>
              </a:rPr>
              <a:t>paper</a:t>
            </a:r>
            <a:r>
              <a:rPr lang="fr-CA" dirty="0">
                <a:ea typeface="+mn-lt"/>
                <a:cs typeface="+mn-lt"/>
              </a:rPr>
              <a:t> </a:t>
            </a:r>
            <a:r>
              <a:rPr lang="fr-CA" dirty="0" err="1">
                <a:ea typeface="+mn-lt"/>
                <a:cs typeface="+mn-lt"/>
              </a:rPr>
              <a:t>describes</a:t>
            </a:r>
            <a:r>
              <a:rPr lang="fr-CA" dirty="0">
                <a:ea typeface="+mn-lt"/>
                <a:cs typeface="+mn-lt"/>
              </a:rPr>
              <a:t> the </a:t>
            </a:r>
            <a:r>
              <a:rPr lang="fr-CA" dirty="0" err="1">
                <a:ea typeface="+mn-lt"/>
                <a:cs typeface="+mn-lt"/>
              </a:rPr>
              <a:t>current</a:t>
            </a:r>
            <a:r>
              <a:rPr lang="fr-CA" dirty="0">
                <a:ea typeface="+mn-lt"/>
                <a:cs typeface="+mn-lt"/>
              </a:rPr>
              <a:t> </a:t>
            </a:r>
            <a:r>
              <a:rPr lang="fr-CA" dirty="0" err="1">
                <a:ea typeface="+mn-lt"/>
                <a:cs typeface="+mn-lt"/>
              </a:rPr>
              <a:t>understanding</a:t>
            </a:r>
            <a:r>
              <a:rPr lang="fr-CA" dirty="0">
                <a:ea typeface="+mn-lt"/>
                <a:cs typeface="+mn-lt"/>
              </a:rPr>
              <a:t> of software-</a:t>
            </a:r>
            <a:r>
              <a:rPr lang="fr-CA" dirty="0" err="1">
                <a:ea typeface="+mn-lt"/>
                <a:cs typeface="+mn-lt"/>
              </a:rPr>
              <a:t>based</a:t>
            </a:r>
            <a:r>
              <a:rPr lang="fr-CA" dirty="0">
                <a:ea typeface="+mn-lt"/>
                <a:cs typeface="+mn-lt"/>
              </a:rPr>
              <a:t> art </a:t>
            </a:r>
            <a:r>
              <a:rPr lang="fr-CA" dirty="0" err="1">
                <a:ea typeface="+mn-lt"/>
                <a:cs typeface="+mn-lt"/>
              </a:rPr>
              <a:t>preservation</a:t>
            </a:r>
            <a:r>
              <a:rPr lang="fr-CA" dirty="0">
                <a:ea typeface="+mn-lt"/>
                <a:cs typeface="+mn-lt"/>
              </a:rPr>
              <a:t> in the </a:t>
            </a:r>
            <a:r>
              <a:rPr lang="fr-CA" dirty="0" err="1">
                <a:ea typeface="+mn-lt"/>
                <a:cs typeface="+mn-lt"/>
              </a:rPr>
              <a:t>context</a:t>
            </a:r>
            <a:r>
              <a:rPr lang="fr-CA" dirty="0">
                <a:ea typeface="+mn-lt"/>
                <a:cs typeface="+mn-lt"/>
              </a:rPr>
              <a:t> of </a:t>
            </a:r>
            <a:r>
              <a:rPr lang="fr-CA" dirty="0" err="1">
                <a:ea typeface="+mn-lt"/>
                <a:cs typeface="+mn-lt"/>
              </a:rPr>
              <a:t>contemporary</a:t>
            </a:r>
            <a:r>
              <a:rPr lang="fr-CA" dirty="0">
                <a:ea typeface="+mn-lt"/>
                <a:cs typeface="+mn-lt"/>
              </a:rPr>
              <a:t> art in </a:t>
            </a:r>
            <a:r>
              <a:rPr lang="fr-CA" dirty="0" err="1">
                <a:ea typeface="+mn-lt"/>
                <a:cs typeface="+mn-lt"/>
              </a:rPr>
              <a:t>museums</a:t>
            </a:r>
            <a:r>
              <a:rPr lang="fr-CA" dirty="0">
                <a:ea typeface="+mn-lt"/>
                <a:cs typeface="+mn-lt"/>
              </a:rPr>
              <a:t> as </a:t>
            </a:r>
            <a:r>
              <a:rPr lang="fr-CA" dirty="0" err="1">
                <a:ea typeface="+mn-lt"/>
                <a:cs typeface="+mn-lt"/>
              </a:rPr>
              <a:t>well</a:t>
            </a:r>
            <a:r>
              <a:rPr lang="fr-CA" dirty="0">
                <a:ea typeface="+mn-lt"/>
                <a:cs typeface="+mn-lt"/>
              </a:rPr>
              <a:t> as the main </a:t>
            </a:r>
            <a:r>
              <a:rPr lang="fr-CA" dirty="0" err="1">
                <a:ea typeface="+mn-lt"/>
                <a:cs typeface="+mn-lt"/>
              </a:rPr>
              <a:t>strategies</a:t>
            </a:r>
            <a:r>
              <a:rPr lang="fr-CA" dirty="0">
                <a:ea typeface="+mn-lt"/>
                <a:cs typeface="+mn-lt"/>
              </a:rPr>
              <a:t> </a:t>
            </a:r>
            <a:r>
              <a:rPr lang="fr-CA" dirty="0" err="1">
                <a:ea typeface="+mn-lt"/>
                <a:cs typeface="+mn-lt"/>
              </a:rPr>
              <a:t>being</a:t>
            </a:r>
            <a:r>
              <a:rPr lang="fr-CA" dirty="0">
                <a:ea typeface="+mn-lt"/>
                <a:cs typeface="+mn-lt"/>
              </a:rPr>
              <a:t> </a:t>
            </a:r>
            <a:r>
              <a:rPr lang="fr-CA" dirty="0" err="1">
                <a:ea typeface="+mn-lt"/>
                <a:cs typeface="+mn-lt"/>
              </a:rPr>
              <a:t>tested</a:t>
            </a:r>
            <a:r>
              <a:rPr lang="fr-CA" dirty="0">
                <a:ea typeface="+mn-lt"/>
                <a:cs typeface="+mn-lt"/>
              </a:rPr>
              <a:t> and </a:t>
            </a:r>
            <a:r>
              <a:rPr lang="fr-CA" dirty="0" err="1">
                <a:ea typeface="+mn-lt"/>
                <a:cs typeface="+mn-lt"/>
              </a:rPr>
              <a:t>developed</a:t>
            </a:r>
            <a:r>
              <a:rPr lang="fr-CA" dirty="0">
                <a:ea typeface="+mn-lt"/>
                <a:cs typeface="+mn-lt"/>
              </a:rPr>
              <a:t> in the </a:t>
            </a:r>
            <a:r>
              <a:rPr lang="fr-CA" dirty="0" err="1">
                <a:ea typeface="+mn-lt"/>
                <a:cs typeface="+mn-lt"/>
              </a:rPr>
              <a:t>field</a:t>
            </a:r>
            <a:r>
              <a:rPr lang="fr-CA" dirty="0">
                <a:ea typeface="+mn-lt"/>
                <a:cs typeface="+mn-lt"/>
              </a:rPr>
              <a:t>.</a:t>
            </a:r>
          </a:p>
          <a:p>
            <a:r>
              <a:rPr lang="fr-CA" dirty="0">
                <a:ea typeface="+mn-lt"/>
                <a:cs typeface="+mn-lt"/>
              </a:rPr>
              <a:t>It </a:t>
            </a:r>
            <a:r>
              <a:rPr lang="fr-CA" dirty="0" err="1">
                <a:ea typeface="+mn-lt"/>
                <a:cs typeface="+mn-lt"/>
              </a:rPr>
              <a:t>describes</a:t>
            </a:r>
            <a:r>
              <a:rPr lang="fr-CA" dirty="0">
                <a:ea typeface="+mn-lt"/>
                <a:cs typeface="+mn-lt"/>
              </a:rPr>
              <a:t> the </a:t>
            </a:r>
            <a:r>
              <a:rPr lang="fr-CA" sz="2000" dirty="0" err="1">
                <a:ea typeface="+mn-lt"/>
                <a:cs typeface="+mn-lt"/>
              </a:rPr>
              <a:t>role</a:t>
            </a:r>
            <a:r>
              <a:rPr lang="fr-CA" sz="2000" dirty="0">
                <a:ea typeface="+mn-lt"/>
                <a:cs typeface="+mn-lt"/>
              </a:rPr>
              <a:t> of the </a:t>
            </a:r>
            <a:r>
              <a:rPr lang="fr-CA" sz="2000" dirty="0" err="1">
                <a:ea typeface="+mn-lt"/>
                <a:cs typeface="+mn-lt"/>
              </a:rPr>
              <a:t>conservator</a:t>
            </a:r>
            <a:r>
              <a:rPr lang="fr-CA" sz="2000" dirty="0">
                <a:ea typeface="+mn-lt"/>
                <a:cs typeface="+mn-lt"/>
              </a:rPr>
              <a:t> and the </a:t>
            </a:r>
            <a:r>
              <a:rPr lang="fr-CA" sz="2000" dirty="0" err="1">
                <a:ea typeface="+mn-lt"/>
                <a:cs typeface="+mn-lt"/>
              </a:rPr>
              <a:t>lifecycle</a:t>
            </a:r>
            <a:r>
              <a:rPr lang="fr-CA" sz="2000" dirty="0">
                <a:ea typeface="+mn-lt"/>
                <a:cs typeface="+mn-lt"/>
              </a:rPr>
              <a:t> of the artwork.</a:t>
            </a:r>
            <a:endParaRPr lang="fr-CA" dirty="0">
              <a:ea typeface="+mn-lt"/>
              <a:cs typeface="+mn-lt"/>
            </a:endParaRPr>
          </a:p>
          <a:p>
            <a:r>
              <a:rPr lang="fr-CA" dirty="0">
                <a:ea typeface="+mn-lt"/>
                <a:cs typeface="+mn-lt"/>
              </a:rPr>
              <a:t>It </a:t>
            </a:r>
            <a:r>
              <a:rPr lang="fr-CA" dirty="0" err="1">
                <a:ea typeface="+mn-lt"/>
                <a:cs typeface="+mn-lt"/>
              </a:rPr>
              <a:t>defines</a:t>
            </a:r>
            <a:r>
              <a:rPr lang="fr-CA" dirty="0">
                <a:ea typeface="+mn-lt"/>
                <a:cs typeface="+mn-lt"/>
              </a:rPr>
              <a:t> « intervention » as </a:t>
            </a:r>
            <a:r>
              <a:rPr lang="fr-CA" dirty="0" err="1">
                <a:ea typeface="+mn-lt"/>
                <a:cs typeface="+mn-lt"/>
              </a:rPr>
              <a:t>any</a:t>
            </a:r>
            <a:r>
              <a:rPr lang="fr-CA" dirty="0">
                <a:ea typeface="+mn-lt"/>
                <a:cs typeface="+mn-lt"/>
              </a:rPr>
              <a:t> action </a:t>
            </a:r>
            <a:r>
              <a:rPr lang="fr-CA" dirty="0" err="1">
                <a:ea typeface="+mn-lt"/>
                <a:cs typeface="+mn-lt"/>
              </a:rPr>
              <a:t>that</a:t>
            </a:r>
            <a:r>
              <a:rPr lang="fr-CA" dirty="0">
                <a:ea typeface="+mn-lt"/>
                <a:cs typeface="+mn-lt"/>
              </a:rPr>
              <a:t> changes the </a:t>
            </a:r>
            <a:r>
              <a:rPr lang="fr-CA" dirty="0" err="1">
                <a:ea typeface="+mn-lt"/>
                <a:cs typeface="+mn-lt"/>
              </a:rPr>
              <a:t>materials</a:t>
            </a:r>
            <a:r>
              <a:rPr lang="fr-CA" dirty="0">
                <a:ea typeface="+mn-lt"/>
                <a:cs typeface="+mn-lt"/>
              </a:rPr>
              <a:t> of an artwork, </a:t>
            </a:r>
            <a:r>
              <a:rPr lang="fr-CA" dirty="0" err="1">
                <a:ea typeface="+mn-lt"/>
                <a:cs typeface="+mn-lt"/>
              </a:rPr>
              <a:t>both</a:t>
            </a:r>
            <a:r>
              <a:rPr lang="fr-CA" dirty="0">
                <a:ea typeface="+mn-lt"/>
                <a:cs typeface="+mn-lt"/>
              </a:rPr>
              <a:t> hardware and software.</a:t>
            </a:r>
          </a:p>
          <a:p>
            <a:endParaRPr lang="en-CA" dirty="0"/>
          </a:p>
        </p:txBody>
      </p:sp>
    </p:spTree>
    <p:extLst>
      <p:ext uri="{BB962C8B-B14F-4D97-AF65-F5344CB8AC3E}">
        <p14:creationId xmlns:p14="http://schemas.microsoft.com/office/powerpoint/2010/main" val="18983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6AAC98AF-E9D3-E5FC-5790-4DAFADC41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03809-B4C5-FF80-FCCB-B52E013C62C2}"/>
              </a:ext>
            </a:extLst>
          </p:cNvPr>
          <p:cNvSpPr>
            <a:spLocks noGrp="1"/>
          </p:cNvSpPr>
          <p:nvPr>
            <p:ph type="title"/>
          </p:nvPr>
        </p:nvSpPr>
        <p:spPr/>
        <p:txBody>
          <a:bodyPr>
            <a:normAutofit fontScale="90000"/>
          </a:bodyPr>
          <a:lstStyle/>
          <a:p>
            <a:r>
              <a:rPr lang="en-US" b="1" dirty="0">
                <a:solidFill>
                  <a:srgbClr val="143D59"/>
                </a:solidFill>
                <a:latin typeface="Aptos Display" pitchFamily="34" charset="0"/>
                <a:ea typeface="Aptos Display" pitchFamily="34" charset="-122"/>
                <a:cs typeface="Aptos Display" pitchFamily="34" charset="-120"/>
              </a:rPr>
              <a:t>Why software-based art is difficult to preserve</a:t>
            </a:r>
            <a:br>
              <a:rPr lang="en-US" dirty="0"/>
            </a:br>
            <a:endParaRPr lang="en-CA" dirty="0"/>
          </a:p>
        </p:txBody>
      </p:sp>
      <p:sp>
        <p:nvSpPr>
          <p:cNvPr id="4" name="Date Placeholder 3">
            <a:extLst>
              <a:ext uri="{FF2B5EF4-FFF2-40B4-BE49-F238E27FC236}">
                <a16:creationId xmlns:a16="http://schemas.microsoft.com/office/drawing/2014/main" id="{15D39CEB-40F9-877F-182E-230B47809901}"/>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6" name="Slide Number Placeholder 5">
            <a:extLst>
              <a:ext uri="{FF2B5EF4-FFF2-40B4-BE49-F238E27FC236}">
                <a16:creationId xmlns:a16="http://schemas.microsoft.com/office/drawing/2014/main" id="{5E36782D-CE9F-FB25-7776-B2FEAC1C5454}"/>
              </a:ext>
            </a:extLst>
          </p:cNvPr>
          <p:cNvSpPr>
            <a:spLocks noGrp="1"/>
          </p:cNvSpPr>
          <p:nvPr>
            <p:ph type="sldNum" sz="quarter" idx="12"/>
          </p:nvPr>
        </p:nvSpPr>
        <p:spPr/>
        <p:txBody>
          <a:bodyPr/>
          <a:lstStyle/>
          <a:p>
            <a:fld id="{70C12960-6E85-460F-B6E3-5B82CB31AF3D}" type="slidenum">
              <a:rPr lang="en-US" smtClean="0"/>
              <a:t>3</a:t>
            </a:fld>
            <a:endParaRPr lang="en-US" dirty="0"/>
          </a:p>
        </p:txBody>
      </p:sp>
      <p:sp>
        <p:nvSpPr>
          <p:cNvPr id="7" name="Subtitle 5">
            <a:extLst>
              <a:ext uri="{FF2B5EF4-FFF2-40B4-BE49-F238E27FC236}">
                <a16:creationId xmlns:a16="http://schemas.microsoft.com/office/drawing/2014/main" id="{73E56DFF-9A58-8D1E-43A9-1586C2F59772}"/>
              </a:ext>
            </a:extLst>
          </p:cNvPr>
          <p:cNvSpPr>
            <a:spLocks noGrp="1"/>
          </p:cNvSpPr>
          <p:nvPr>
            <p:ph idx="1"/>
          </p:nvPr>
        </p:nvSpPr>
        <p:spPr>
          <a:xfrm>
            <a:off x="912628" y="2089465"/>
            <a:ext cx="10363200" cy="3382963"/>
          </a:xfrm>
        </p:spPr>
        <p:txBody>
          <a:bodyPr>
            <a:normAutofit/>
          </a:bodyPr>
          <a:lstStyle/>
          <a:p>
            <a:r>
              <a:rPr lang="en-US" dirty="0">
                <a:solidFill>
                  <a:srgbClr val="1D1D1F"/>
                </a:solidFill>
              </a:rPr>
              <a:t>Software is one of the primary media of the artwork.</a:t>
            </a:r>
          </a:p>
          <a:p>
            <a:r>
              <a:rPr lang="en-US" dirty="0">
                <a:solidFill>
                  <a:srgbClr val="1D1D1F"/>
                </a:solidFill>
              </a:rPr>
              <a:t>The work often only exists when hardware, software, data, and display specifications function together.
Obsolescence is built in: operating systems, peripherals, ports, APIs, and file formats keep changing.
Then, conservation must preserve both meaning and functionality.</a:t>
            </a:r>
            <a:endParaRPr lang="en-US" dirty="0"/>
          </a:p>
          <a:p>
            <a:pPr marL="0" indent="0">
              <a:buNone/>
            </a:pPr>
            <a:endParaRPr lang="en-CA" dirty="0"/>
          </a:p>
        </p:txBody>
      </p:sp>
      <p:sp>
        <p:nvSpPr>
          <p:cNvPr id="3" name="Shape 4">
            <a:extLst>
              <a:ext uri="{FF2B5EF4-FFF2-40B4-BE49-F238E27FC236}">
                <a16:creationId xmlns:a16="http://schemas.microsoft.com/office/drawing/2014/main" id="{48662068-6ABD-9FEC-0081-A4E45FE73B68}"/>
              </a:ext>
            </a:extLst>
          </p:cNvPr>
          <p:cNvSpPr/>
          <p:nvPr/>
        </p:nvSpPr>
        <p:spPr>
          <a:xfrm>
            <a:off x="495138" y="5011114"/>
            <a:ext cx="2325883" cy="708519"/>
          </a:xfrm>
          <a:prstGeom prst="roundRect">
            <a:avLst>
              <a:gd name="adj" fmla="val 11111"/>
            </a:avLst>
          </a:prstGeom>
          <a:solidFill>
            <a:srgbClr val="C9D6EA"/>
          </a:solidFill>
          <a:ln w="12700">
            <a:solidFill>
              <a:srgbClr val="AAB5C0"/>
            </a:solidFill>
            <a:prstDash val="solid"/>
          </a:ln>
        </p:spPr>
        <p:txBody>
          <a:bodyPr/>
          <a:lstStyle/>
          <a:p>
            <a:endParaRPr lang="en-CA"/>
          </a:p>
        </p:txBody>
      </p:sp>
      <p:sp>
        <p:nvSpPr>
          <p:cNvPr id="8" name="Text 5">
            <a:extLst>
              <a:ext uri="{FF2B5EF4-FFF2-40B4-BE49-F238E27FC236}">
                <a16:creationId xmlns:a16="http://schemas.microsoft.com/office/drawing/2014/main" id="{AAB47E04-940E-C33B-631B-9F1A8441E4F4}"/>
              </a:ext>
            </a:extLst>
          </p:cNvPr>
          <p:cNvSpPr/>
          <p:nvPr/>
        </p:nvSpPr>
        <p:spPr>
          <a:xfrm>
            <a:off x="617543" y="5235679"/>
            <a:ext cx="1995143" cy="236544"/>
          </a:xfrm>
          <a:prstGeom prst="rect">
            <a:avLst/>
          </a:prstGeom>
          <a:noFill/>
          <a:ln/>
        </p:spPr>
        <p:txBody>
          <a:bodyPr wrap="square" lIns="0" tIns="0" rIns="0" bIns="0" rtlCol="0" anchor="ctr"/>
          <a:lstStyle/>
          <a:p>
            <a:pPr marL="0" indent="0" algn="ctr">
              <a:buNone/>
            </a:pPr>
            <a:r>
              <a:rPr lang="en-US" sz="2000" b="1" dirty="0">
                <a:solidFill>
                  <a:srgbClr val="143D59"/>
                </a:solidFill>
              </a:rPr>
              <a:t>Hardware</a:t>
            </a:r>
            <a:endParaRPr lang="en-US" sz="2000" dirty="0"/>
          </a:p>
        </p:txBody>
      </p:sp>
      <p:sp>
        <p:nvSpPr>
          <p:cNvPr id="9" name="Shape 6">
            <a:extLst>
              <a:ext uri="{FF2B5EF4-FFF2-40B4-BE49-F238E27FC236}">
                <a16:creationId xmlns:a16="http://schemas.microsoft.com/office/drawing/2014/main" id="{34975447-6A43-32B3-6C95-115F25DBA002}"/>
              </a:ext>
            </a:extLst>
          </p:cNvPr>
          <p:cNvSpPr/>
          <p:nvPr/>
        </p:nvSpPr>
        <p:spPr>
          <a:xfrm>
            <a:off x="3493201" y="5011114"/>
            <a:ext cx="2325883" cy="700126"/>
          </a:xfrm>
          <a:prstGeom prst="roundRect">
            <a:avLst>
              <a:gd name="adj" fmla="val 11111"/>
            </a:avLst>
          </a:prstGeom>
          <a:solidFill>
            <a:srgbClr val="C9D8D0"/>
          </a:solidFill>
          <a:ln w="12700">
            <a:solidFill>
              <a:srgbClr val="AAB5C0"/>
            </a:solidFill>
            <a:prstDash val="solid"/>
          </a:ln>
        </p:spPr>
        <p:txBody>
          <a:bodyPr/>
          <a:lstStyle/>
          <a:p>
            <a:endParaRPr lang="en-CA"/>
          </a:p>
        </p:txBody>
      </p:sp>
      <p:sp>
        <p:nvSpPr>
          <p:cNvPr id="10" name="Text 7">
            <a:extLst>
              <a:ext uri="{FF2B5EF4-FFF2-40B4-BE49-F238E27FC236}">
                <a16:creationId xmlns:a16="http://schemas.microsoft.com/office/drawing/2014/main" id="{924A99F4-073B-18A5-DD70-8A2E0492634C}"/>
              </a:ext>
            </a:extLst>
          </p:cNvPr>
          <p:cNvSpPr/>
          <p:nvPr/>
        </p:nvSpPr>
        <p:spPr>
          <a:xfrm>
            <a:off x="3655828" y="5199001"/>
            <a:ext cx="1898644" cy="236544"/>
          </a:xfrm>
          <a:prstGeom prst="rect">
            <a:avLst/>
          </a:prstGeom>
          <a:noFill/>
          <a:ln/>
        </p:spPr>
        <p:txBody>
          <a:bodyPr wrap="square" lIns="0" tIns="0" rIns="0" bIns="0" rtlCol="0" anchor="ctr"/>
          <a:lstStyle/>
          <a:p>
            <a:pPr marL="0" indent="0" algn="ctr">
              <a:buNone/>
            </a:pPr>
            <a:r>
              <a:rPr lang="en-US" sz="2000" b="1" dirty="0">
                <a:solidFill>
                  <a:srgbClr val="143D59"/>
                </a:solidFill>
              </a:rPr>
              <a:t>Software</a:t>
            </a:r>
            <a:endParaRPr lang="en-US" sz="2000" dirty="0"/>
          </a:p>
        </p:txBody>
      </p:sp>
      <p:sp>
        <p:nvSpPr>
          <p:cNvPr id="11" name="Shape 8">
            <a:extLst>
              <a:ext uri="{FF2B5EF4-FFF2-40B4-BE49-F238E27FC236}">
                <a16:creationId xmlns:a16="http://schemas.microsoft.com/office/drawing/2014/main" id="{F8D2E72E-77C2-C03C-5E5D-8AD9DC75E5F0}"/>
              </a:ext>
            </a:extLst>
          </p:cNvPr>
          <p:cNvSpPr/>
          <p:nvPr/>
        </p:nvSpPr>
        <p:spPr>
          <a:xfrm>
            <a:off x="6096000" y="5019507"/>
            <a:ext cx="2393718" cy="700126"/>
          </a:xfrm>
          <a:prstGeom prst="roundRect">
            <a:avLst>
              <a:gd name="adj" fmla="val 11111"/>
            </a:avLst>
          </a:prstGeom>
          <a:solidFill>
            <a:srgbClr val="F4E7B3"/>
          </a:solidFill>
          <a:ln w="12700">
            <a:solidFill>
              <a:srgbClr val="AAB5C0"/>
            </a:solidFill>
            <a:prstDash val="solid"/>
          </a:ln>
        </p:spPr>
        <p:txBody>
          <a:bodyPr/>
          <a:lstStyle/>
          <a:p>
            <a:endParaRPr lang="en-CA" dirty="0"/>
          </a:p>
        </p:txBody>
      </p:sp>
      <p:sp>
        <p:nvSpPr>
          <p:cNvPr id="12" name="Text 9">
            <a:extLst>
              <a:ext uri="{FF2B5EF4-FFF2-40B4-BE49-F238E27FC236}">
                <a16:creationId xmlns:a16="http://schemas.microsoft.com/office/drawing/2014/main" id="{918159ED-791D-3790-FC0E-59EF9C9C971F}"/>
              </a:ext>
            </a:extLst>
          </p:cNvPr>
          <p:cNvSpPr/>
          <p:nvPr/>
        </p:nvSpPr>
        <p:spPr>
          <a:xfrm>
            <a:off x="6481150" y="5186405"/>
            <a:ext cx="1558954" cy="302785"/>
          </a:xfrm>
          <a:prstGeom prst="rect">
            <a:avLst/>
          </a:prstGeom>
          <a:noFill/>
          <a:ln/>
        </p:spPr>
        <p:txBody>
          <a:bodyPr wrap="square" lIns="0" tIns="0" rIns="0" bIns="0" rtlCol="0" anchor="ctr"/>
          <a:lstStyle/>
          <a:p>
            <a:pPr marL="0" indent="0" algn="ctr">
              <a:buNone/>
            </a:pPr>
            <a:r>
              <a:rPr lang="en-US" sz="2000" b="1" dirty="0">
                <a:solidFill>
                  <a:srgbClr val="143D59"/>
                </a:solidFill>
              </a:rPr>
              <a:t>Data</a:t>
            </a:r>
            <a:endParaRPr lang="en-US" sz="2000" dirty="0"/>
          </a:p>
        </p:txBody>
      </p:sp>
      <p:sp>
        <p:nvSpPr>
          <p:cNvPr id="13" name="Shape 10">
            <a:extLst>
              <a:ext uri="{FF2B5EF4-FFF2-40B4-BE49-F238E27FC236}">
                <a16:creationId xmlns:a16="http://schemas.microsoft.com/office/drawing/2014/main" id="{102BD216-58F6-1FC6-9960-64BF1018564C}"/>
              </a:ext>
            </a:extLst>
          </p:cNvPr>
          <p:cNvSpPr/>
          <p:nvPr/>
        </p:nvSpPr>
        <p:spPr>
          <a:xfrm>
            <a:off x="8702170" y="4988112"/>
            <a:ext cx="2393718" cy="731678"/>
          </a:xfrm>
          <a:prstGeom prst="roundRect">
            <a:avLst>
              <a:gd name="adj" fmla="val 11111"/>
            </a:avLst>
          </a:prstGeom>
          <a:solidFill>
            <a:srgbClr val="E5E9EF"/>
          </a:solidFill>
          <a:ln w="12700">
            <a:solidFill>
              <a:srgbClr val="AAB5C0"/>
            </a:solidFill>
            <a:prstDash val="solid"/>
          </a:ln>
        </p:spPr>
        <p:txBody>
          <a:bodyPr/>
          <a:lstStyle/>
          <a:p>
            <a:endParaRPr lang="en-CA"/>
          </a:p>
        </p:txBody>
      </p:sp>
      <p:sp>
        <p:nvSpPr>
          <p:cNvPr id="14" name="Text 11">
            <a:extLst>
              <a:ext uri="{FF2B5EF4-FFF2-40B4-BE49-F238E27FC236}">
                <a16:creationId xmlns:a16="http://schemas.microsoft.com/office/drawing/2014/main" id="{28DF1DFB-F8AC-4AE2-E223-E8E5644F29DB}"/>
              </a:ext>
            </a:extLst>
          </p:cNvPr>
          <p:cNvSpPr/>
          <p:nvPr/>
        </p:nvSpPr>
        <p:spPr>
          <a:xfrm>
            <a:off x="8870882" y="5152207"/>
            <a:ext cx="2048322" cy="330133"/>
          </a:xfrm>
          <a:prstGeom prst="rect">
            <a:avLst/>
          </a:prstGeom>
          <a:noFill/>
          <a:ln/>
        </p:spPr>
        <p:txBody>
          <a:bodyPr wrap="square" lIns="0" tIns="0" rIns="0" bIns="0" rtlCol="0" anchor="ctr"/>
          <a:lstStyle/>
          <a:p>
            <a:pPr marL="0" indent="0" algn="ctr">
              <a:buNone/>
            </a:pPr>
            <a:r>
              <a:rPr lang="en-US" sz="2000" b="1" dirty="0">
                <a:solidFill>
                  <a:srgbClr val="143D59"/>
                </a:solidFill>
              </a:rPr>
              <a:t>Display context</a:t>
            </a:r>
            <a:endParaRPr lang="en-US" sz="2000" dirty="0"/>
          </a:p>
        </p:txBody>
      </p:sp>
    </p:spTree>
    <p:extLst>
      <p:ext uri="{BB962C8B-B14F-4D97-AF65-F5344CB8AC3E}">
        <p14:creationId xmlns:p14="http://schemas.microsoft.com/office/powerpoint/2010/main" val="3379000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7BA33F82-1B6D-52DF-0FCC-2BF68C220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6B4F9-6F21-0529-516E-2D18BB92CF53}"/>
              </a:ext>
            </a:extLst>
          </p:cNvPr>
          <p:cNvSpPr>
            <a:spLocks noGrp="1"/>
          </p:cNvSpPr>
          <p:nvPr>
            <p:ph type="title"/>
          </p:nvPr>
        </p:nvSpPr>
        <p:spPr/>
        <p:txBody>
          <a:bodyPr>
            <a:normAutofit/>
          </a:bodyPr>
          <a:lstStyle/>
          <a:p>
            <a:r>
              <a:rPr lang="en-US" b="1" dirty="0">
                <a:solidFill>
                  <a:srgbClr val="143D59"/>
                </a:solidFill>
                <a:latin typeface="Aptos Display" pitchFamily="34" charset="0"/>
                <a:ea typeface="Aptos Display" pitchFamily="34" charset="-122"/>
                <a:cs typeface="Aptos Display" pitchFamily="34" charset="-120"/>
              </a:rPr>
              <a:t>Tate: useful test study</a:t>
            </a:r>
            <a:endParaRPr lang="en-US" dirty="0"/>
          </a:p>
        </p:txBody>
      </p:sp>
      <p:sp>
        <p:nvSpPr>
          <p:cNvPr id="4" name="Date Placeholder 3">
            <a:extLst>
              <a:ext uri="{FF2B5EF4-FFF2-40B4-BE49-F238E27FC236}">
                <a16:creationId xmlns:a16="http://schemas.microsoft.com/office/drawing/2014/main" id="{6A9CCAD7-E394-6ABB-8ECF-24E92B2BA2C0}"/>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5" name="Footer Placeholder 4">
            <a:extLst>
              <a:ext uri="{FF2B5EF4-FFF2-40B4-BE49-F238E27FC236}">
                <a16:creationId xmlns:a16="http://schemas.microsoft.com/office/drawing/2014/main" id="{8AB90347-698C-2C5C-7939-76163AF3A59D}"/>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90C95CAC-B422-4776-DBEA-322F4F016FE1}"/>
              </a:ext>
            </a:extLst>
          </p:cNvPr>
          <p:cNvSpPr>
            <a:spLocks noGrp="1"/>
          </p:cNvSpPr>
          <p:nvPr>
            <p:ph type="sldNum" sz="quarter" idx="12"/>
          </p:nvPr>
        </p:nvSpPr>
        <p:spPr/>
        <p:txBody>
          <a:bodyPr/>
          <a:lstStyle/>
          <a:p>
            <a:fld id="{70C12960-6E85-460F-B6E3-5B82CB31AF3D}" type="slidenum">
              <a:rPr lang="en-US" smtClean="0"/>
              <a:t>4</a:t>
            </a:fld>
            <a:endParaRPr lang="en-US" dirty="0"/>
          </a:p>
        </p:txBody>
      </p:sp>
      <p:sp>
        <p:nvSpPr>
          <p:cNvPr id="7" name="Subtitle 5">
            <a:extLst>
              <a:ext uri="{FF2B5EF4-FFF2-40B4-BE49-F238E27FC236}">
                <a16:creationId xmlns:a16="http://schemas.microsoft.com/office/drawing/2014/main" id="{868638DF-ACEB-EA3E-E58C-B5549FE00AAD}"/>
              </a:ext>
            </a:extLst>
          </p:cNvPr>
          <p:cNvSpPr>
            <a:spLocks noGrp="1"/>
          </p:cNvSpPr>
          <p:nvPr>
            <p:ph idx="1"/>
          </p:nvPr>
        </p:nvSpPr>
        <p:spPr>
          <a:xfrm>
            <a:off x="914400" y="2559050"/>
            <a:ext cx="10363200" cy="3382963"/>
          </a:xfrm>
        </p:spPr>
        <p:txBody>
          <a:bodyPr>
            <a:normAutofit/>
          </a:bodyPr>
          <a:lstStyle/>
          <a:p>
            <a:r>
              <a:rPr lang="fr-CA" dirty="0">
                <a:ea typeface="+mn-lt"/>
                <a:cs typeface="+mn-lt"/>
              </a:rPr>
              <a:t>This </a:t>
            </a:r>
            <a:r>
              <a:rPr lang="fr-CA" dirty="0" err="1">
                <a:ea typeface="+mn-lt"/>
                <a:cs typeface="+mn-lt"/>
              </a:rPr>
              <a:t>museum</a:t>
            </a:r>
            <a:r>
              <a:rPr lang="fr-CA" dirty="0">
                <a:ea typeface="+mn-lt"/>
                <a:cs typeface="+mn-lt"/>
              </a:rPr>
              <a:t> </a:t>
            </a:r>
            <a:r>
              <a:rPr lang="fr-CA" dirty="0" err="1">
                <a:ea typeface="+mn-lt"/>
                <a:cs typeface="+mn-lt"/>
              </a:rPr>
              <a:t>is</a:t>
            </a:r>
            <a:r>
              <a:rPr lang="fr-CA" dirty="0">
                <a:ea typeface="+mn-lt"/>
                <a:cs typeface="+mn-lt"/>
              </a:rPr>
              <a:t> an </a:t>
            </a:r>
            <a:r>
              <a:rPr lang="fr-CA" dirty="0" err="1">
                <a:ea typeface="+mn-lt"/>
                <a:cs typeface="+mn-lt"/>
              </a:rPr>
              <a:t>example</a:t>
            </a:r>
            <a:r>
              <a:rPr lang="fr-CA" dirty="0">
                <a:ea typeface="+mn-lt"/>
                <a:cs typeface="+mn-lt"/>
              </a:rPr>
              <a:t> of an </a:t>
            </a:r>
            <a:r>
              <a:rPr lang="fr-CA" dirty="0" err="1">
                <a:ea typeface="+mn-lt"/>
                <a:cs typeface="+mn-lt"/>
              </a:rPr>
              <a:t>institutional</a:t>
            </a:r>
            <a:r>
              <a:rPr lang="fr-CA" dirty="0">
                <a:ea typeface="+mn-lt"/>
                <a:cs typeface="+mn-lt"/>
              </a:rPr>
              <a:t> </a:t>
            </a:r>
            <a:r>
              <a:rPr lang="fr-CA" dirty="0" err="1">
                <a:ea typeface="+mn-lt"/>
                <a:cs typeface="+mn-lt"/>
              </a:rPr>
              <a:t>problem</a:t>
            </a:r>
            <a:r>
              <a:rPr lang="fr-CA" dirty="0">
                <a:ea typeface="+mn-lt"/>
                <a:cs typeface="+mn-lt"/>
              </a:rPr>
              <a:t>, </a:t>
            </a:r>
            <a:r>
              <a:rPr lang="fr-CA" dirty="0" err="1">
                <a:ea typeface="+mn-lt"/>
                <a:cs typeface="+mn-lt"/>
              </a:rPr>
              <a:t>where</a:t>
            </a:r>
            <a:r>
              <a:rPr lang="fr-CA" dirty="0">
                <a:ea typeface="+mn-lt"/>
                <a:cs typeface="+mn-lt"/>
              </a:rPr>
              <a:t> </a:t>
            </a:r>
            <a:r>
              <a:rPr lang="fr-CA" dirty="0" err="1">
                <a:ea typeface="+mn-lt"/>
                <a:cs typeface="+mn-lt"/>
              </a:rPr>
              <a:t>is</a:t>
            </a:r>
            <a:r>
              <a:rPr lang="fr-CA" dirty="0">
                <a:ea typeface="+mn-lt"/>
                <a:cs typeface="+mn-lt"/>
              </a:rPr>
              <a:t> not fixing one artwork, </a:t>
            </a:r>
            <a:r>
              <a:rPr lang="fr-CA" dirty="0" err="1">
                <a:ea typeface="+mn-lt"/>
                <a:cs typeface="+mn-lt"/>
              </a:rPr>
              <a:t>is</a:t>
            </a:r>
            <a:r>
              <a:rPr lang="fr-CA" dirty="0">
                <a:ea typeface="+mn-lt"/>
                <a:cs typeface="+mn-lt"/>
              </a:rPr>
              <a:t> fixing </a:t>
            </a:r>
            <a:r>
              <a:rPr lang="fr-CA" dirty="0" err="1">
                <a:ea typeface="+mn-lt"/>
                <a:cs typeface="+mn-lt"/>
              </a:rPr>
              <a:t>many</a:t>
            </a:r>
            <a:r>
              <a:rPr lang="fr-CA" dirty="0">
                <a:ea typeface="+mn-lt"/>
                <a:cs typeface="+mn-lt"/>
              </a:rPr>
              <a:t> artworks for a long </a:t>
            </a:r>
            <a:r>
              <a:rPr lang="fr-CA" dirty="0" err="1">
                <a:ea typeface="+mn-lt"/>
                <a:cs typeface="+mn-lt"/>
              </a:rPr>
              <a:t>term</a:t>
            </a:r>
            <a:r>
              <a:rPr lang="fr-CA" dirty="0">
                <a:ea typeface="+mn-lt"/>
                <a:cs typeface="+mn-lt"/>
              </a:rPr>
              <a:t>.</a:t>
            </a:r>
          </a:p>
          <a:p>
            <a:r>
              <a:rPr lang="fr-CA" b="1" dirty="0">
                <a:ea typeface="+mn-lt"/>
                <a:cs typeface="+mn-lt"/>
              </a:rPr>
              <a:t>2003: </a:t>
            </a:r>
            <a:r>
              <a:rPr lang="fr-CA" dirty="0" err="1">
                <a:ea typeface="+mn-lt"/>
                <a:cs typeface="+mn-lt"/>
              </a:rPr>
              <a:t>They</a:t>
            </a:r>
            <a:r>
              <a:rPr lang="fr-CA" dirty="0">
                <a:ea typeface="+mn-lt"/>
                <a:cs typeface="+mn-lt"/>
              </a:rPr>
              <a:t> </a:t>
            </a:r>
            <a:r>
              <a:rPr lang="fr-CA" dirty="0" err="1">
                <a:ea typeface="+mn-lt"/>
                <a:cs typeface="+mn-lt"/>
              </a:rPr>
              <a:t>acquired</a:t>
            </a:r>
            <a:r>
              <a:rPr lang="fr-CA" dirty="0">
                <a:ea typeface="+mn-lt"/>
                <a:cs typeface="+mn-lt"/>
              </a:rPr>
              <a:t> </a:t>
            </a:r>
            <a:r>
              <a:rPr lang="fr-CA" dirty="0" err="1">
                <a:ea typeface="+mn-lt"/>
                <a:cs typeface="+mn-lt"/>
              </a:rPr>
              <a:t>their</a:t>
            </a:r>
            <a:r>
              <a:rPr lang="fr-CA" dirty="0">
                <a:ea typeface="+mn-lt"/>
                <a:cs typeface="+mn-lt"/>
              </a:rPr>
              <a:t> first software-</a:t>
            </a:r>
            <a:r>
              <a:rPr lang="fr-CA" dirty="0" err="1">
                <a:ea typeface="+mn-lt"/>
                <a:cs typeface="+mn-lt"/>
              </a:rPr>
              <a:t>based</a:t>
            </a:r>
            <a:r>
              <a:rPr lang="fr-CA" dirty="0">
                <a:ea typeface="+mn-lt"/>
                <a:cs typeface="+mn-lt"/>
              </a:rPr>
              <a:t> artwork. </a:t>
            </a:r>
          </a:p>
          <a:p>
            <a:r>
              <a:rPr lang="en-US" b="1" dirty="0">
                <a:ea typeface="+mn-lt"/>
                <a:cs typeface="+mn-lt"/>
              </a:rPr>
              <a:t>2017: </a:t>
            </a:r>
            <a:r>
              <a:rPr lang="en-US" dirty="0">
                <a:ea typeface="+mn-lt"/>
                <a:cs typeface="+mn-lt"/>
              </a:rPr>
              <a:t>~650 total artworks, 35 per year, a team of 12 specialists.</a:t>
            </a:r>
          </a:p>
          <a:p>
            <a:r>
              <a:rPr lang="en-US" b="1" dirty="0">
                <a:ea typeface="+mn-lt"/>
                <a:cs typeface="+mn-lt"/>
              </a:rPr>
              <a:t>Today: Ongoing ….</a:t>
            </a:r>
          </a:p>
          <a:p>
            <a:endParaRPr lang="fr-CA" dirty="0">
              <a:ea typeface="+mn-lt"/>
              <a:cs typeface="+mn-lt"/>
            </a:endParaRPr>
          </a:p>
          <a:p>
            <a:endParaRPr lang="fr-CA" dirty="0">
              <a:ea typeface="+mn-lt"/>
              <a:cs typeface="+mn-lt"/>
            </a:endParaRPr>
          </a:p>
          <a:p>
            <a:endParaRPr lang="fr-CA" dirty="0">
              <a:ea typeface="+mn-lt"/>
              <a:cs typeface="+mn-lt"/>
            </a:endParaRPr>
          </a:p>
          <a:p>
            <a:endParaRPr lang="en-CA" dirty="0"/>
          </a:p>
        </p:txBody>
      </p:sp>
    </p:spTree>
    <p:extLst>
      <p:ext uri="{BB962C8B-B14F-4D97-AF65-F5344CB8AC3E}">
        <p14:creationId xmlns:p14="http://schemas.microsoft.com/office/powerpoint/2010/main" val="3432256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63263DBB-68C8-A787-DE41-AE6F108DD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11218-ED2F-637E-AE18-F2DD6D863F20}"/>
              </a:ext>
            </a:extLst>
          </p:cNvPr>
          <p:cNvSpPr>
            <a:spLocks noGrp="1"/>
          </p:cNvSpPr>
          <p:nvPr>
            <p:ph type="title"/>
          </p:nvPr>
        </p:nvSpPr>
        <p:spPr/>
        <p:txBody>
          <a:bodyPr/>
          <a:lstStyle/>
          <a:p>
            <a:r>
              <a:rPr lang="en-US" b="1" dirty="0">
                <a:solidFill>
                  <a:srgbClr val="143D59"/>
                </a:solidFill>
                <a:latin typeface="Aptos Display" pitchFamily="34" charset="0"/>
                <a:ea typeface="Aptos Display" pitchFamily="34" charset="-122"/>
                <a:cs typeface="Aptos Display" pitchFamily="34" charset="-120"/>
              </a:rPr>
              <a:t>The artwork lifecycle in the museum</a:t>
            </a:r>
            <a:endParaRPr lang="en-US" dirty="0"/>
          </a:p>
        </p:txBody>
      </p:sp>
      <p:sp>
        <p:nvSpPr>
          <p:cNvPr id="4" name="Date Placeholder 3">
            <a:extLst>
              <a:ext uri="{FF2B5EF4-FFF2-40B4-BE49-F238E27FC236}">
                <a16:creationId xmlns:a16="http://schemas.microsoft.com/office/drawing/2014/main" id="{0B59A13F-E75D-5249-A89D-0E9C7AB461B9}"/>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5" name="Footer Placeholder 4">
            <a:extLst>
              <a:ext uri="{FF2B5EF4-FFF2-40B4-BE49-F238E27FC236}">
                <a16:creationId xmlns:a16="http://schemas.microsoft.com/office/drawing/2014/main" id="{2F86A18F-269C-C1CE-39B8-FC154A83F323}"/>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55AEB37D-4A69-600D-AB44-6C29A7E898BC}"/>
              </a:ext>
            </a:extLst>
          </p:cNvPr>
          <p:cNvSpPr>
            <a:spLocks noGrp="1"/>
          </p:cNvSpPr>
          <p:nvPr>
            <p:ph type="sldNum" sz="quarter" idx="12"/>
          </p:nvPr>
        </p:nvSpPr>
        <p:spPr/>
        <p:txBody>
          <a:bodyPr/>
          <a:lstStyle/>
          <a:p>
            <a:fld id="{70C12960-6E85-460F-B6E3-5B82CB31AF3D}" type="slidenum">
              <a:rPr lang="en-US" smtClean="0"/>
              <a:t>5</a:t>
            </a:fld>
            <a:endParaRPr lang="en-US" dirty="0"/>
          </a:p>
        </p:txBody>
      </p:sp>
      <p:pic>
        <p:nvPicPr>
          <p:cNvPr id="9" name="Image 0" descr="/mnt/data/figure1_lifecycle.png">
            <a:extLst>
              <a:ext uri="{FF2B5EF4-FFF2-40B4-BE49-F238E27FC236}">
                <a16:creationId xmlns:a16="http://schemas.microsoft.com/office/drawing/2014/main" id="{23D2B180-510C-6503-5A79-841A856D0C72}"/>
              </a:ext>
            </a:extLst>
          </p:cNvPr>
          <p:cNvPicPr>
            <a:picLocks noChangeAspect="1"/>
          </p:cNvPicPr>
          <p:nvPr/>
        </p:nvPicPr>
        <p:blipFill>
          <a:blip r:embed="rId2"/>
          <a:stretch>
            <a:fillRect/>
          </a:stretch>
        </p:blipFill>
        <p:spPr>
          <a:xfrm>
            <a:off x="752934" y="2444425"/>
            <a:ext cx="5173504" cy="2331720"/>
          </a:xfrm>
          <a:prstGeom prst="rect">
            <a:avLst/>
          </a:prstGeom>
        </p:spPr>
      </p:pic>
      <p:sp>
        <p:nvSpPr>
          <p:cNvPr id="10" name="Shape 2">
            <a:extLst>
              <a:ext uri="{FF2B5EF4-FFF2-40B4-BE49-F238E27FC236}">
                <a16:creationId xmlns:a16="http://schemas.microsoft.com/office/drawing/2014/main" id="{11453EDA-CF7A-A7AF-CB0C-94F8408A8846}"/>
              </a:ext>
            </a:extLst>
          </p:cNvPr>
          <p:cNvSpPr/>
          <p:nvPr/>
        </p:nvSpPr>
        <p:spPr>
          <a:xfrm>
            <a:off x="6568440" y="2299776"/>
            <a:ext cx="4709160" cy="786384"/>
          </a:xfrm>
          <a:prstGeom prst="roundRect">
            <a:avLst>
              <a:gd name="adj" fmla="val 6977"/>
            </a:avLst>
          </a:prstGeom>
          <a:solidFill>
            <a:srgbClr val="FFFFFF"/>
          </a:solidFill>
          <a:ln w="12700">
            <a:solidFill>
              <a:srgbClr val="D6DCE2"/>
            </a:solidFill>
            <a:prstDash val="solid"/>
          </a:ln>
        </p:spPr>
        <p:txBody>
          <a:bodyPr/>
          <a:lstStyle/>
          <a:p>
            <a:endParaRPr lang="en-CA"/>
          </a:p>
        </p:txBody>
      </p:sp>
      <p:sp>
        <p:nvSpPr>
          <p:cNvPr id="11" name="Text 3">
            <a:extLst>
              <a:ext uri="{FF2B5EF4-FFF2-40B4-BE49-F238E27FC236}">
                <a16:creationId xmlns:a16="http://schemas.microsoft.com/office/drawing/2014/main" id="{D944F0FC-4993-F314-540E-7A46E66EACCE}"/>
              </a:ext>
            </a:extLst>
          </p:cNvPr>
          <p:cNvSpPr/>
          <p:nvPr/>
        </p:nvSpPr>
        <p:spPr>
          <a:xfrm>
            <a:off x="6778752" y="2427792"/>
            <a:ext cx="4251960" cy="411480"/>
          </a:xfrm>
          <a:prstGeom prst="rect">
            <a:avLst/>
          </a:prstGeom>
          <a:noFill/>
          <a:ln/>
        </p:spPr>
        <p:txBody>
          <a:bodyPr wrap="square" lIns="0" tIns="0" rIns="0" bIns="0" rtlCol="0" anchor="ctr"/>
          <a:lstStyle/>
          <a:p>
            <a:pPr marL="0" indent="0">
              <a:buNone/>
            </a:pPr>
            <a:r>
              <a:rPr lang="en-US" sz="1520" b="1" dirty="0">
                <a:solidFill>
                  <a:srgbClr val="1D1D1F"/>
                </a:solidFill>
              </a:rPr>
              <a:t>1. Acquisition: </a:t>
            </a:r>
            <a:r>
              <a:rPr lang="en-US" sz="1520" dirty="0">
                <a:solidFill>
                  <a:srgbClr val="1D1D1F"/>
                </a:solidFill>
              </a:rPr>
              <a:t>Gather components, artist input, technical analysis, and create a preservation plan.</a:t>
            </a:r>
            <a:endParaRPr lang="en-US" sz="1520" dirty="0"/>
          </a:p>
        </p:txBody>
      </p:sp>
      <p:sp>
        <p:nvSpPr>
          <p:cNvPr id="12" name="Shape 4">
            <a:extLst>
              <a:ext uri="{FF2B5EF4-FFF2-40B4-BE49-F238E27FC236}">
                <a16:creationId xmlns:a16="http://schemas.microsoft.com/office/drawing/2014/main" id="{F9FDCCAB-B50C-5B15-9766-651905E06A6C}"/>
              </a:ext>
            </a:extLst>
          </p:cNvPr>
          <p:cNvSpPr/>
          <p:nvPr/>
        </p:nvSpPr>
        <p:spPr>
          <a:xfrm>
            <a:off x="6568440" y="3214176"/>
            <a:ext cx="4709160" cy="786384"/>
          </a:xfrm>
          <a:prstGeom prst="roundRect">
            <a:avLst>
              <a:gd name="adj" fmla="val 6977"/>
            </a:avLst>
          </a:prstGeom>
          <a:solidFill>
            <a:srgbClr val="EEF2F4"/>
          </a:solidFill>
          <a:ln w="12700">
            <a:solidFill>
              <a:srgbClr val="D6DCE2"/>
            </a:solidFill>
            <a:prstDash val="solid"/>
          </a:ln>
        </p:spPr>
        <p:txBody>
          <a:bodyPr/>
          <a:lstStyle/>
          <a:p>
            <a:endParaRPr lang="en-CA"/>
          </a:p>
        </p:txBody>
      </p:sp>
      <p:sp>
        <p:nvSpPr>
          <p:cNvPr id="13" name="Text 5">
            <a:extLst>
              <a:ext uri="{FF2B5EF4-FFF2-40B4-BE49-F238E27FC236}">
                <a16:creationId xmlns:a16="http://schemas.microsoft.com/office/drawing/2014/main" id="{AE182A22-C32B-5BF4-306D-153B77B59040}"/>
              </a:ext>
            </a:extLst>
          </p:cNvPr>
          <p:cNvSpPr/>
          <p:nvPr/>
        </p:nvSpPr>
        <p:spPr>
          <a:xfrm>
            <a:off x="6778752" y="3342192"/>
            <a:ext cx="4251960" cy="411480"/>
          </a:xfrm>
          <a:prstGeom prst="rect">
            <a:avLst/>
          </a:prstGeom>
          <a:noFill/>
          <a:ln/>
        </p:spPr>
        <p:txBody>
          <a:bodyPr wrap="square" lIns="0" tIns="0" rIns="0" bIns="0" rtlCol="0" anchor="ctr"/>
          <a:lstStyle/>
          <a:p>
            <a:pPr marL="0" indent="0">
              <a:buNone/>
            </a:pPr>
            <a:r>
              <a:rPr lang="en-US" sz="1520" b="1" dirty="0">
                <a:solidFill>
                  <a:srgbClr val="1D1D1F"/>
                </a:solidFill>
              </a:rPr>
              <a:t>2. Display and maintenance: </a:t>
            </a:r>
            <a:r>
              <a:rPr lang="en-US" sz="1520" dirty="0">
                <a:solidFill>
                  <a:srgbClr val="1D1D1F"/>
                </a:solidFill>
              </a:rPr>
              <a:t>Test the work in real conditions and document adjustments, faults, and decisions.</a:t>
            </a:r>
            <a:endParaRPr lang="en-US" sz="1520" dirty="0"/>
          </a:p>
        </p:txBody>
      </p:sp>
      <p:sp>
        <p:nvSpPr>
          <p:cNvPr id="14" name="Shape 6">
            <a:extLst>
              <a:ext uri="{FF2B5EF4-FFF2-40B4-BE49-F238E27FC236}">
                <a16:creationId xmlns:a16="http://schemas.microsoft.com/office/drawing/2014/main" id="{B657CAB5-0705-2DC5-2373-333879A1FE38}"/>
              </a:ext>
            </a:extLst>
          </p:cNvPr>
          <p:cNvSpPr/>
          <p:nvPr/>
        </p:nvSpPr>
        <p:spPr>
          <a:xfrm>
            <a:off x="6568440" y="4128576"/>
            <a:ext cx="4709160" cy="786384"/>
          </a:xfrm>
          <a:prstGeom prst="roundRect">
            <a:avLst>
              <a:gd name="adj" fmla="val 6977"/>
            </a:avLst>
          </a:prstGeom>
          <a:solidFill>
            <a:srgbClr val="FFFFFF"/>
          </a:solidFill>
          <a:ln w="12700">
            <a:solidFill>
              <a:srgbClr val="D6DCE2"/>
            </a:solidFill>
            <a:prstDash val="solid"/>
          </a:ln>
        </p:spPr>
        <p:txBody>
          <a:bodyPr/>
          <a:lstStyle/>
          <a:p>
            <a:endParaRPr lang="en-CA"/>
          </a:p>
        </p:txBody>
      </p:sp>
      <p:sp>
        <p:nvSpPr>
          <p:cNvPr id="15" name="Text 7">
            <a:extLst>
              <a:ext uri="{FF2B5EF4-FFF2-40B4-BE49-F238E27FC236}">
                <a16:creationId xmlns:a16="http://schemas.microsoft.com/office/drawing/2014/main" id="{80C260C6-27CA-B1B3-AC1A-994319549ECA}"/>
              </a:ext>
            </a:extLst>
          </p:cNvPr>
          <p:cNvSpPr/>
          <p:nvPr/>
        </p:nvSpPr>
        <p:spPr>
          <a:xfrm>
            <a:off x="6778752" y="4256592"/>
            <a:ext cx="4251960" cy="411480"/>
          </a:xfrm>
          <a:prstGeom prst="rect">
            <a:avLst/>
          </a:prstGeom>
          <a:noFill/>
          <a:ln/>
        </p:spPr>
        <p:txBody>
          <a:bodyPr wrap="square" lIns="0" tIns="0" rIns="0" bIns="0" rtlCol="0" anchor="ctr"/>
          <a:lstStyle/>
          <a:p>
            <a:pPr marL="0" indent="0">
              <a:buNone/>
            </a:pPr>
            <a:r>
              <a:rPr lang="en-US" sz="1520" b="1" dirty="0">
                <a:solidFill>
                  <a:srgbClr val="1D1D1F"/>
                </a:solidFill>
              </a:rPr>
              <a:t>3. Storage: </a:t>
            </a:r>
            <a:r>
              <a:rPr lang="en-US" sz="1520" dirty="0">
                <a:solidFill>
                  <a:srgbClr val="1D1D1F"/>
                </a:solidFill>
              </a:rPr>
              <a:t>Keep both physical components and digital files, including historical systems, for the long term.</a:t>
            </a:r>
            <a:endParaRPr lang="en-US" sz="1520" dirty="0"/>
          </a:p>
        </p:txBody>
      </p:sp>
      <p:sp>
        <p:nvSpPr>
          <p:cNvPr id="16" name="Shape 8">
            <a:extLst>
              <a:ext uri="{FF2B5EF4-FFF2-40B4-BE49-F238E27FC236}">
                <a16:creationId xmlns:a16="http://schemas.microsoft.com/office/drawing/2014/main" id="{AEEC5C9F-9FBA-CFE4-A992-5773471C2428}"/>
              </a:ext>
            </a:extLst>
          </p:cNvPr>
          <p:cNvSpPr/>
          <p:nvPr/>
        </p:nvSpPr>
        <p:spPr>
          <a:xfrm>
            <a:off x="6568440" y="5042976"/>
            <a:ext cx="4709160" cy="786384"/>
          </a:xfrm>
          <a:prstGeom prst="roundRect">
            <a:avLst>
              <a:gd name="adj" fmla="val 6977"/>
            </a:avLst>
          </a:prstGeom>
          <a:solidFill>
            <a:srgbClr val="EEF2F4"/>
          </a:solidFill>
          <a:ln w="12700">
            <a:solidFill>
              <a:srgbClr val="D6DCE2"/>
            </a:solidFill>
            <a:prstDash val="solid"/>
          </a:ln>
        </p:spPr>
        <p:txBody>
          <a:bodyPr/>
          <a:lstStyle/>
          <a:p>
            <a:endParaRPr lang="en-CA"/>
          </a:p>
        </p:txBody>
      </p:sp>
      <p:sp>
        <p:nvSpPr>
          <p:cNvPr id="17" name="Text 9">
            <a:extLst>
              <a:ext uri="{FF2B5EF4-FFF2-40B4-BE49-F238E27FC236}">
                <a16:creationId xmlns:a16="http://schemas.microsoft.com/office/drawing/2014/main" id="{3FE9DE95-21B0-B276-A67A-A1D829C624C8}"/>
              </a:ext>
            </a:extLst>
          </p:cNvPr>
          <p:cNvSpPr/>
          <p:nvPr/>
        </p:nvSpPr>
        <p:spPr>
          <a:xfrm>
            <a:off x="6778752" y="5170992"/>
            <a:ext cx="4251960" cy="411480"/>
          </a:xfrm>
          <a:prstGeom prst="rect">
            <a:avLst/>
          </a:prstGeom>
          <a:noFill/>
          <a:ln/>
        </p:spPr>
        <p:txBody>
          <a:bodyPr wrap="square" lIns="0" tIns="0" rIns="0" bIns="0" rtlCol="0" anchor="ctr"/>
          <a:lstStyle/>
          <a:p>
            <a:pPr marL="0" indent="0">
              <a:buNone/>
            </a:pPr>
            <a:r>
              <a:rPr lang="en-US" sz="1520" b="1" dirty="0">
                <a:solidFill>
                  <a:srgbClr val="1D1D1F"/>
                </a:solidFill>
              </a:rPr>
              <a:t>4. Intervention</a:t>
            </a:r>
            <a:r>
              <a:rPr lang="en-US" sz="1520" dirty="0">
                <a:solidFill>
                  <a:srgbClr val="1D1D1F"/>
                </a:solidFill>
              </a:rPr>
              <a:t>: Change hardware or software when needed to keep the work displayable.</a:t>
            </a:r>
            <a:endParaRPr lang="en-US" sz="1520" dirty="0"/>
          </a:p>
        </p:txBody>
      </p:sp>
      <p:sp>
        <p:nvSpPr>
          <p:cNvPr id="18" name="Text 10">
            <a:extLst>
              <a:ext uri="{FF2B5EF4-FFF2-40B4-BE49-F238E27FC236}">
                <a16:creationId xmlns:a16="http://schemas.microsoft.com/office/drawing/2014/main" id="{62EC6340-FB65-AF34-3083-573279806808}"/>
              </a:ext>
            </a:extLst>
          </p:cNvPr>
          <p:cNvSpPr/>
          <p:nvPr/>
        </p:nvSpPr>
        <p:spPr>
          <a:xfrm>
            <a:off x="912628" y="5932835"/>
            <a:ext cx="10149840" cy="320040"/>
          </a:xfrm>
          <a:prstGeom prst="rect">
            <a:avLst/>
          </a:prstGeom>
          <a:noFill/>
          <a:ln/>
        </p:spPr>
        <p:txBody>
          <a:bodyPr wrap="square" lIns="0" tIns="0" rIns="0" bIns="0" rtlCol="0" anchor="ctr"/>
          <a:lstStyle/>
          <a:p>
            <a:pPr marL="0" indent="0">
              <a:buNone/>
            </a:pPr>
            <a:r>
              <a:rPr lang="en-US" sz="1700" b="1" i="1" dirty="0">
                <a:solidFill>
                  <a:srgbClr val="002060"/>
                </a:solidFill>
              </a:rPr>
              <a:t>Key idea: </a:t>
            </a:r>
            <a:r>
              <a:rPr lang="en-US" sz="1700" i="1" dirty="0">
                <a:solidFill>
                  <a:srgbClr val="002060"/>
                </a:solidFill>
              </a:rPr>
              <a:t>preservation is continuous. Display, storage and intervention all feed back into future decisions.</a:t>
            </a:r>
            <a:endParaRPr lang="en-US" sz="1700" dirty="0">
              <a:solidFill>
                <a:srgbClr val="002060"/>
              </a:solidFill>
            </a:endParaRPr>
          </a:p>
        </p:txBody>
      </p:sp>
    </p:spTree>
    <p:extLst>
      <p:ext uri="{BB962C8B-B14F-4D97-AF65-F5344CB8AC3E}">
        <p14:creationId xmlns:p14="http://schemas.microsoft.com/office/powerpoint/2010/main" val="241869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F31C2079-3152-A58C-C922-C85E7BB8E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566BB-171D-CAD3-3C59-4186EE394770}"/>
              </a:ext>
            </a:extLst>
          </p:cNvPr>
          <p:cNvSpPr>
            <a:spLocks noGrp="1"/>
          </p:cNvSpPr>
          <p:nvPr>
            <p:ph type="title"/>
          </p:nvPr>
        </p:nvSpPr>
        <p:spPr>
          <a:xfrm>
            <a:off x="704639" y="1325752"/>
            <a:ext cx="10363200" cy="1187570"/>
          </a:xfrm>
        </p:spPr>
        <p:txBody>
          <a:bodyPr/>
          <a:lstStyle/>
          <a:p>
            <a:r>
              <a:rPr lang="en-US" b="1" dirty="0">
                <a:solidFill>
                  <a:srgbClr val="143D59"/>
                </a:solidFill>
                <a:latin typeface="Aptos Display" pitchFamily="34" charset="0"/>
                <a:ea typeface="Aptos Display" pitchFamily="34" charset="-122"/>
                <a:cs typeface="Aptos Display" pitchFamily="34" charset="-120"/>
              </a:rPr>
              <a:t>Main preservation strategies</a:t>
            </a:r>
            <a:endParaRPr lang="en-US" dirty="0"/>
          </a:p>
        </p:txBody>
      </p:sp>
      <p:sp>
        <p:nvSpPr>
          <p:cNvPr id="4" name="Date Placeholder 3">
            <a:extLst>
              <a:ext uri="{FF2B5EF4-FFF2-40B4-BE49-F238E27FC236}">
                <a16:creationId xmlns:a16="http://schemas.microsoft.com/office/drawing/2014/main" id="{998CF481-59C8-3482-C9C1-A7FF9F10136F}"/>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6" name="Slide Number Placeholder 5">
            <a:extLst>
              <a:ext uri="{FF2B5EF4-FFF2-40B4-BE49-F238E27FC236}">
                <a16:creationId xmlns:a16="http://schemas.microsoft.com/office/drawing/2014/main" id="{6A3FDC2F-C29C-64D6-C6C0-F5F3B3DC50F5}"/>
              </a:ext>
            </a:extLst>
          </p:cNvPr>
          <p:cNvSpPr>
            <a:spLocks noGrp="1"/>
          </p:cNvSpPr>
          <p:nvPr>
            <p:ph type="sldNum" sz="quarter" idx="12"/>
          </p:nvPr>
        </p:nvSpPr>
        <p:spPr/>
        <p:txBody>
          <a:bodyPr/>
          <a:lstStyle/>
          <a:p>
            <a:fld id="{70C12960-6E85-460F-B6E3-5B82CB31AF3D}" type="slidenum">
              <a:rPr lang="en-US" smtClean="0"/>
              <a:t>6</a:t>
            </a:fld>
            <a:endParaRPr lang="en-US" dirty="0"/>
          </a:p>
        </p:txBody>
      </p:sp>
      <p:pic>
        <p:nvPicPr>
          <p:cNvPr id="3" name="Image 0" descr="/mnt/data/figure2_strategies2.png">
            <a:extLst>
              <a:ext uri="{FF2B5EF4-FFF2-40B4-BE49-F238E27FC236}">
                <a16:creationId xmlns:a16="http://schemas.microsoft.com/office/drawing/2014/main" id="{05896FD2-8ECE-3DFF-C7EB-037AAE8F2DAC}"/>
              </a:ext>
            </a:extLst>
          </p:cNvPr>
          <p:cNvPicPr>
            <a:picLocks noChangeAspect="1"/>
          </p:cNvPicPr>
          <p:nvPr/>
        </p:nvPicPr>
        <p:blipFill>
          <a:blip r:embed="rId3"/>
          <a:stretch>
            <a:fillRect/>
          </a:stretch>
        </p:blipFill>
        <p:spPr>
          <a:xfrm>
            <a:off x="704639" y="2091867"/>
            <a:ext cx="4709160" cy="3090386"/>
          </a:xfrm>
          <a:prstGeom prst="rect">
            <a:avLst/>
          </a:prstGeom>
        </p:spPr>
      </p:pic>
      <p:sp>
        <p:nvSpPr>
          <p:cNvPr id="15" name="TextBox 14">
            <a:extLst>
              <a:ext uri="{FF2B5EF4-FFF2-40B4-BE49-F238E27FC236}">
                <a16:creationId xmlns:a16="http://schemas.microsoft.com/office/drawing/2014/main" id="{4C0E805E-64B9-2CEB-6EFB-BFB572878D41}"/>
              </a:ext>
            </a:extLst>
          </p:cNvPr>
          <p:cNvSpPr txBox="1"/>
          <p:nvPr/>
        </p:nvSpPr>
        <p:spPr>
          <a:xfrm>
            <a:off x="6180428" y="2513322"/>
            <a:ext cx="6096000" cy="286232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1D1D1F"/>
                </a:solidFill>
                <a:latin typeface="Arial" panose="020B0604020202020204" pitchFamily="34" charset="0"/>
                <a:cs typeface="Arial" panose="020B0604020202020204" pitchFamily="34" charset="0"/>
              </a:rPr>
              <a:t>Create exact disk images first, so analysis happens on copies rather than on the original computer.
Store digital files in multiple copies and locations, with monitoring and retrieval workflows.
Migrate systems when needed, for example, adapting a work from obsolete parallel-port printers to USB printers.</a:t>
            </a:r>
            <a:endParaRPr lang="en-US" dirty="0">
              <a:solidFill>
                <a:srgbClr val="1D1D1F"/>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solidFill>
                  <a:srgbClr val="1D1D1F"/>
                </a:solidFill>
                <a:latin typeface="Arial" panose="020B0604020202020204" pitchFamily="34" charset="0"/>
                <a:cs typeface="Arial" panose="020B0604020202020204" pitchFamily="34" charset="0"/>
              </a:rPr>
              <a:t>Prepare future </a:t>
            </a:r>
            <a:r>
              <a:rPr lang="en-US" sz="1800">
                <a:solidFill>
                  <a:srgbClr val="1D1D1F"/>
                </a:solidFill>
                <a:latin typeface="Arial" panose="020B0604020202020204" pitchFamily="34" charset="0"/>
                <a:cs typeface="Arial" panose="020B0604020202020204" pitchFamily="34" charset="0"/>
              </a:rPr>
              <a:t>emulation, for </a:t>
            </a:r>
            <a:r>
              <a:rPr lang="en-US" sz="1800" dirty="0">
                <a:solidFill>
                  <a:srgbClr val="1D1D1F"/>
                </a:solidFill>
                <a:latin typeface="Arial" panose="020B0604020202020204" pitchFamily="34" charset="0"/>
                <a:cs typeface="Arial" panose="020B0604020202020204" pitchFamily="34" charset="0"/>
              </a:rPr>
              <a:t>example, asking for a Windows version of a Unity artwork to avoid MacOS limitations later.</a:t>
            </a:r>
            <a:endParaRPr lang="en-CA"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A7CA163-C501-F2A7-CBDC-5C04500C48BE}"/>
              </a:ext>
            </a:extLst>
          </p:cNvPr>
          <p:cNvSpPr txBox="1"/>
          <p:nvPr/>
        </p:nvSpPr>
        <p:spPr>
          <a:xfrm>
            <a:off x="7190014" y="2091867"/>
            <a:ext cx="6172200" cy="400110"/>
          </a:xfrm>
          <a:prstGeom prst="rect">
            <a:avLst/>
          </a:prstGeom>
          <a:noFill/>
        </p:spPr>
        <p:txBody>
          <a:bodyPr wrap="square">
            <a:spAutoFit/>
          </a:bodyPr>
          <a:lstStyle/>
          <a:p>
            <a:r>
              <a:rPr lang="en-US" sz="2000" b="1" dirty="0">
                <a:solidFill>
                  <a:srgbClr val="143D59"/>
                </a:solidFill>
              </a:rPr>
              <a:t>Examples from the paper</a:t>
            </a:r>
            <a:endParaRPr lang="en-CA" sz="2000" b="1" dirty="0"/>
          </a:p>
        </p:txBody>
      </p:sp>
    </p:spTree>
    <p:extLst>
      <p:ext uri="{BB962C8B-B14F-4D97-AF65-F5344CB8AC3E}">
        <p14:creationId xmlns:p14="http://schemas.microsoft.com/office/powerpoint/2010/main" val="3848474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8E51E3BB-1027-64E6-E54C-9CC2F521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64D38-F102-8410-404B-762CF19D52EB}"/>
              </a:ext>
            </a:extLst>
          </p:cNvPr>
          <p:cNvSpPr>
            <a:spLocks noGrp="1"/>
          </p:cNvSpPr>
          <p:nvPr>
            <p:ph type="title"/>
          </p:nvPr>
        </p:nvSpPr>
        <p:spPr>
          <a:xfrm>
            <a:off x="704639" y="1325752"/>
            <a:ext cx="10363200" cy="1187570"/>
          </a:xfrm>
        </p:spPr>
        <p:txBody>
          <a:bodyPr/>
          <a:lstStyle/>
          <a:p>
            <a:r>
              <a:rPr lang="en-US" b="1" dirty="0">
                <a:solidFill>
                  <a:srgbClr val="143D59"/>
                </a:solidFill>
                <a:latin typeface="Aptos Display" pitchFamily="34" charset="0"/>
                <a:ea typeface="Aptos Display" pitchFamily="34" charset="-122"/>
                <a:cs typeface="Aptos Display" pitchFamily="34" charset="-120"/>
              </a:rPr>
              <a:t>Storage</a:t>
            </a:r>
            <a:endParaRPr lang="en-US" dirty="0"/>
          </a:p>
        </p:txBody>
      </p:sp>
      <p:sp>
        <p:nvSpPr>
          <p:cNvPr id="4" name="Date Placeholder 3">
            <a:extLst>
              <a:ext uri="{FF2B5EF4-FFF2-40B4-BE49-F238E27FC236}">
                <a16:creationId xmlns:a16="http://schemas.microsoft.com/office/drawing/2014/main" id="{E9488B8C-2328-B560-B163-BC7EA58E6E6C}"/>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6" name="Slide Number Placeholder 5">
            <a:extLst>
              <a:ext uri="{FF2B5EF4-FFF2-40B4-BE49-F238E27FC236}">
                <a16:creationId xmlns:a16="http://schemas.microsoft.com/office/drawing/2014/main" id="{DF6A39A9-193A-1172-23B2-FBAFF705BAE8}"/>
              </a:ext>
            </a:extLst>
          </p:cNvPr>
          <p:cNvSpPr>
            <a:spLocks noGrp="1"/>
          </p:cNvSpPr>
          <p:nvPr>
            <p:ph type="sldNum" sz="quarter" idx="12"/>
          </p:nvPr>
        </p:nvSpPr>
        <p:spPr/>
        <p:txBody>
          <a:bodyPr/>
          <a:lstStyle/>
          <a:p>
            <a:fld id="{70C12960-6E85-460F-B6E3-5B82CB31AF3D}" type="slidenum">
              <a:rPr lang="en-US" smtClean="0"/>
              <a:t>7</a:t>
            </a:fld>
            <a:endParaRPr lang="en-US" dirty="0"/>
          </a:p>
        </p:txBody>
      </p:sp>
      <p:pic>
        <p:nvPicPr>
          <p:cNvPr id="3" name="Image 0" descr="/mnt/data/figure2_strategies2.png">
            <a:extLst>
              <a:ext uri="{FF2B5EF4-FFF2-40B4-BE49-F238E27FC236}">
                <a16:creationId xmlns:a16="http://schemas.microsoft.com/office/drawing/2014/main" id="{2C3F3354-09CF-CD2B-2E78-51246B9486F1}"/>
              </a:ext>
            </a:extLst>
          </p:cNvPr>
          <p:cNvPicPr>
            <a:picLocks noChangeAspect="1"/>
          </p:cNvPicPr>
          <p:nvPr/>
        </p:nvPicPr>
        <p:blipFill>
          <a:blip r:embed="rId3"/>
          <a:stretch>
            <a:fillRect/>
          </a:stretch>
        </p:blipFill>
        <p:spPr>
          <a:xfrm>
            <a:off x="704639" y="2091867"/>
            <a:ext cx="4709160" cy="3090386"/>
          </a:xfrm>
          <a:prstGeom prst="rect">
            <a:avLst/>
          </a:prstGeom>
        </p:spPr>
      </p:pic>
      <p:sp>
        <p:nvSpPr>
          <p:cNvPr id="15" name="TextBox 14">
            <a:extLst>
              <a:ext uri="{FF2B5EF4-FFF2-40B4-BE49-F238E27FC236}">
                <a16:creationId xmlns:a16="http://schemas.microsoft.com/office/drawing/2014/main" id="{79325780-9F0B-64C2-96F8-CB0CAC491FDB}"/>
              </a:ext>
            </a:extLst>
          </p:cNvPr>
          <p:cNvSpPr txBox="1"/>
          <p:nvPr/>
        </p:nvSpPr>
        <p:spPr>
          <a:xfrm>
            <a:off x="6180428" y="2513322"/>
            <a:ext cx="6096000" cy="1200329"/>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Any </a:t>
            </a:r>
            <a:r>
              <a:rPr lang="en-US" b="1" dirty="0">
                <a:latin typeface="Arial" panose="020B0604020202020204" pitchFamily="34" charset="0"/>
                <a:cs typeface="Arial" panose="020B0604020202020204" pitchFamily="34" charset="0"/>
              </a:rPr>
              <a:t>hardware</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objects supplied</a:t>
            </a:r>
            <a:r>
              <a:rPr lang="en-US" dirty="0">
                <a:latin typeface="Arial" panose="020B0604020202020204" pitchFamily="34" charset="0"/>
                <a:cs typeface="Arial" panose="020B0604020202020204" pitchFamily="34" charset="0"/>
              </a:rPr>
              <a:t> as part of an artwork </a:t>
            </a:r>
            <a:r>
              <a:rPr lang="en-US" b="1" dirty="0">
                <a:latin typeface="Arial" panose="020B0604020202020204" pitchFamily="34" charset="0"/>
                <a:cs typeface="Arial" panose="020B0604020202020204" pitchFamily="34" charset="0"/>
              </a:rPr>
              <a:t>are kept and stored </a:t>
            </a:r>
            <a:r>
              <a:rPr lang="en-US" dirty="0">
                <a:latin typeface="Arial" panose="020B0604020202020204" pitchFamily="34" charset="0"/>
                <a:cs typeface="Arial" panose="020B0604020202020204" pitchFamily="34" charset="0"/>
              </a:rPr>
              <a:t>under the appropriate environmental conditions, and adequate packing is designed to keep those elements.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4998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029B93DF-C75F-091F-0395-7EAA97855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20F0C-B035-4A4B-435F-D328433F5C01}"/>
              </a:ext>
            </a:extLst>
          </p:cNvPr>
          <p:cNvSpPr>
            <a:spLocks noGrp="1"/>
          </p:cNvSpPr>
          <p:nvPr>
            <p:ph type="title"/>
          </p:nvPr>
        </p:nvSpPr>
        <p:spPr>
          <a:xfrm>
            <a:off x="704639" y="1145438"/>
            <a:ext cx="11400275" cy="1187570"/>
          </a:xfrm>
        </p:spPr>
        <p:txBody>
          <a:bodyPr>
            <a:normAutofit fontScale="90000"/>
          </a:bodyPr>
          <a:lstStyle/>
          <a:p>
            <a:r>
              <a:rPr lang="en-US" b="1" dirty="0">
                <a:solidFill>
                  <a:srgbClr val="143D59"/>
                </a:solidFill>
                <a:latin typeface="Aptos Display" pitchFamily="34" charset="0"/>
                <a:ea typeface="Aptos Display" pitchFamily="34" charset="-122"/>
                <a:cs typeface="Aptos Display" pitchFamily="34" charset="-120"/>
              </a:rPr>
              <a:t>Intervention: Migration, emulation and anything else </a:t>
            </a:r>
            <a:br>
              <a:rPr lang="en-US" b="1" dirty="0">
                <a:solidFill>
                  <a:srgbClr val="143D59"/>
                </a:solidFill>
                <a:latin typeface="Aptos Display" pitchFamily="34" charset="0"/>
                <a:ea typeface="Aptos Display" pitchFamily="34" charset="-122"/>
                <a:cs typeface="Aptos Display" pitchFamily="34" charset="-120"/>
              </a:rPr>
            </a:br>
            <a:r>
              <a:rPr lang="en-US" b="1" dirty="0">
                <a:solidFill>
                  <a:srgbClr val="143D59"/>
                </a:solidFill>
                <a:latin typeface="Aptos Display" pitchFamily="34" charset="0"/>
                <a:ea typeface="Aptos Display" pitchFamily="34" charset="-122"/>
                <a:cs typeface="Aptos Display" pitchFamily="34" charset="-120"/>
              </a:rPr>
              <a:t>that helps. </a:t>
            </a:r>
            <a:endParaRPr lang="en-US" dirty="0"/>
          </a:p>
        </p:txBody>
      </p:sp>
      <p:sp>
        <p:nvSpPr>
          <p:cNvPr id="4" name="Date Placeholder 3">
            <a:extLst>
              <a:ext uri="{FF2B5EF4-FFF2-40B4-BE49-F238E27FC236}">
                <a16:creationId xmlns:a16="http://schemas.microsoft.com/office/drawing/2014/main" id="{C93397C3-D3C2-7FC1-8A6F-777C08435C8B}"/>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6" name="Slide Number Placeholder 5">
            <a:extLst>
              <a:ext uri="{FF2B5EF4-FFF2-40B4-BE49-F238E27FC236}">
                <a16:creationId xmlns:a16="http://schemas.microsoft.com/office/drawing/2014/main" id="{CEF3F9D7-5952-65A9-999F-ECB8F7C6D7EE}"/>
              </a:ext>
            </a:extLst>
          </p:cNvPr>
          <p:cNvSpPr>
            <a:spLocks noGrp="1"/>
          </p:cNvSpPr>
          <p:nvPr>
            <p:ph type="sldNum" sz="quarter" idx="12"/>
          </p:nvPr>
        </p:nvSpPr>
        <p:spPr/>
        <p:txBody>
          <a:bodyPr/>
          <a:lstStyle/>
          <a:p>
            <a:fld id="{70C12960-6E85-460F-B6E3-5B82CB31AF3D}" type="slidenum">
              <a:rPr lang="en-US" smtClean="0"/>
              <a:t>8</a:t>
            </a:fld>
            <a:endParaRPr lang="en-US" dirty="0"/>
          </a:p>
        </p:txBody>
      </p:sp>
      <p:pic>
        <p:nvPicPr>
          <p:cNvPr id="3" name="Image 0" descr="/mnt/data/figure2_strategies2.png">
            <a:extLst>
              <a:ext uri="{FF2B5EF4-FFF2-40B4-BE49-F238E27FC236}">
                <a16:creationId xmlns:a16="http://schemas.microsoft.com/office/drawing/2014/main" id="{FF889041-A2C9-20B0-6833-E72EC727C20C}"/>
              </a:ext>
            </a:extLst>
          </p:cNvPr>
          <p:cNvPicPr>
            <a:picLocks noChangeAspect="1"/>
          </p:cNvPicPr>
          <p:nvPr/>
        </p:nvPicPr>
        <p:blipFill>
          <a:blip r:embed="rId3"/>
          <a:stretch>
            <a:fillRect/>
          </a:stretch>
        </p:blipFill>
        <p:spPr>
          <a:xfrm>
            <a:off x="648438" y="2449287"/>
            <a:ext cx="4709160" cy="3090386"/>
          </a:xfrm>
          <a:prstGeom prst="rect">
            <a:avLst/>
          </a:prstGeom>
        </p:spPr>
      </p:pic>
      <p:sp>
        <p:nvSpPr>
          <p:cNvPr id="15" name="TextBox 14">
            <a:extLst>
              <a:ext uri="{FF2B5EF4-FFF2-40B4-BE49-F238E27FC236}">
                <a16:creationId xmlns:a16="http://schemas.microsoft.com/office/drawing/2014/main" id="{A793C5F5-E7D7-8F44-C514-4164C2FCE009}"/>
              </a:ext>
            </a:extLst>
          </p:cNvPr>
          <p:cNvSpPr txBox="1"/>
          <p:nvPr/>
        </p:nvSpPr>
        <p:spPr>
          <a:xfrm>
            <a:off x="5853856" y="3144349"/>
            <a:ext cx="6096000" cy="1200329"/>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Migrating a system to new hardware.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Migrating a piece of software to a more recent version.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Completely rewriting a piece of software.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Running the original software on emulators.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2393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6AE3381A-EA7D-FB9A-254E-20B9584AC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35F1A-BE72-5133-FE7E-9899F28C47A6}"/>
              </a:ext>
            </a:extLst>
          </p:cNvPr>
          <p:cNvSpPr>
            <a:spLocks noGrp="1"/>
          </p:cNvSpPr>
          <p:nvPr>
            <p:ph type="title"/>
          </p:nvPr>
        </p:nvSpPr>
        <p:spPr>
          <a:xfrm>
            <a:off x="704639" y="1325752"/>
            <a:ext cx="10363200" cy="1187570"/>
          </a:xfrm>
        </p:spPr>
        <p:txBody>
          <a:bodyPr/>
          <a:lstStyle/>
          <a:p>
            <a:r>
              <a:rPr lang="en-US" b="1" dirty="0">
                <a:solidFill>
                  <a:srgbClr val="143D59"/>
                </a:solidFill>
                <a:latin typeface="Aptos Display" pitchFamily="34" charset="0"/>
                <a:ea typeface="Aptos Display" pitchFamily="34" charset="-122"/>
                <a:cs typeface="Aptos Display" pitchFamily="34" charset="-120"/>
              </a:rPr>
              <a:t>Documentation</a:t>
            </a:r>
            <a:endParaRPr lang="en-US" dirty="0"/>
          </a:p>
        </p:txBody>
      </p:sp>
      <p:sp>
        <p:nvSpPr>
          <p:cNvPr id="4" name="Date Placeholder 3">
            <a:extLst>
              <a:ext uri="{FF2B5EF4-FFF2-40B4-BE49-F238E27FC236}">
                <a16:creationId xmlns:a16="http://schemas.microsoft.com/office/drawing/2014/main" id="{765BF5CD-150F-4542-244D-752E047BC11E}"/>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6" name="Slide Number Placeholder 5">
            <a:extLst>
              <a:ext uri="{FF2B5EF4-FFF2-40B4-BE49-F238E27FC236}">
                <a16:creationId xmlns:a16="http://schemas.microsoft.com/office/drawing/2014/main" id="{A756F424-0DF3-7079-720D-7E8E86B30203}"/>
              </a:ext>
            </a:extLst>
          </p:cNvPr>
          <p:cNvSpPr>
            <a:spLocks noGrp="1"/>
          </p:cNvSpPr>
          <p:nvPr>
            <p:ph type="sldNum" sz="quarter" idx="12"/>
          </p:nvPr>
        </p:nvSpPr>
        <p:spPr/>
        <p:txBody>
          <a:bodyPr/>
          <a:lstStyle/>
          <a:p>
            <a:fld id="{70C12960-6E85-460F-B6E3-5B82CB31AF3D}" type="slidenum">
              <a:rPr lang="en-US" smtClean="0"/>
              <a:t>9</a:t>
            </a:fld>
            <a:endParaRPr lang="en-US" dirty="0"/>
          </a:p>
        </p:txBody>
      </p:sp>
      <p:pic>
        <p:nvPicPr>
          <p:cNvPr id="3" name="Image 0" descr="/mnt/data/figure2_strategies2.png">
            <a:extLst>
              <a:ext uri="{FF2B5EF4-FFF2-40B4-BE49-F238E27FC236}">
                <a16:creationId xmlns:a16="http://schemas.microsoft.com/office/drawing/2014/main" id="{E86B3508-70D2-508A-E166-5BC359C85031}"/>
              </a:ext>
            </a:extLst>
          </p:cNvPr>
          <p:cNvPicPr>
            <a:picLocks noChangeAspect="1"/>
          </p:cNvPicPr>
          <p:nvPr/>
        </p:nvPicPr>
        <p:blipFill>
          <a:blip r:embed="rId3"/>
          <a:stretch>
            <a:fillRect/>
          </a:stretch>
        </p:blipFill>
        <p:spPr>
          <a:xfrm>
            <a:off x="704639" y="2091867"/>
            <a:ext cx="4709160" cy="3090386"/>
          </a:xfrm>
          <a:prstGeom prst="rect">
            <a:avLst/>
          </a:prstGeom>
        </p:spPr>
      </p:pic>
      <p:pic>
        <p:nvPicPr>
          <p:cNvPr id="9" name="Picture 8">
            <a:extLst>
              <a:ext uri="{FF2B5EF4-FFF2-40B4-BE49-F238E27FC236}">
                <a16:creationId xmlns:a16="http://schemas.microsoft.com/office/drawing/2014/main" id="{3BA6B423-7F7C-0FBE-7315-F062E9294CAF}"/>
              </a:ext>
            </a:extLst>
          </p:cNvPr>
          <p:cNvPicPr>
            <a:picLocks noChangeAspect="1"/>
          </p:cNvPicPr>
          <p:nvPr/>
        </p:nvPicPr>
        <p:blipFill>
          <a:blip r:embed="rId4"/>
          <a:stretch>
            <a:fillRect/>
          </a:stretch>
        </p:blipFill>
        <p:spPr>
          <a:xfrm>
            <a:off x="6002705" y="2091867"/>
            <a:ext cx="5274895" cy="3090386"/>
          </a:xfrm>
          <a:prstGeom prst="rect">
            <a:avLst/>
          </a:prstGeom>
        </p:spPr>
      </p:pic>
      <p:sp>
        <p:nvSpPr>
          <p:cNvPr id="11" name="TextBox 10">
            <a:extLst>
              <a:ext uri="{FF2B5EF4-FFF2-40B4-BE49-F238E27FC236}">
                <a16:creationId xmlns:a16="http://schemas.microsoft.com/office/drawing/2014/main" id="{EB660DFB-4A04-194E-6E0A-CEEA7815A6BF}"/>
              </a:ext>
            </a:extLst>
          </p:cNvPr>
          <p:cNvSpPr txBox="1"/>
          <p:nvPr/>
        </p:nvSpPr>
        <p:spPr>
          <a:xfrm>
            <a:off x="607828" y="5288339"/>
            <a:ext cx="6096000" cy="369332"/>
          </a:xfrm>
          <a:prstGeom prst="rect">
            <a:avLst/>
          </a:prstGeom>
          <a:noFill/>
        </p:spPr>
        <p:txBody>
          <a:bodyPr wrap="square">
            <a:spAutoFit/>
          </a:bodyPr>
          <a:lstStyle/>
          <a:p>
            <a:r>
              <a:rPr lang="en-US" b="1" dirty="0"/>
              <a:t>Documentation: </a:t>
            </a:r>
            <a:r>
              <a:rPr lang="en-US" dirty="0"/>
              <a:t>To avoid making the same mistakes.</a:t>
            </a:r>
          </a:p>
        </p:txBody>
      </p:sp>
      <p:sp>
        <p:nvSpPr>
          <p:cNvPr id="13" name="TextBox 12">
            <a:extLst>
              <a:ext uri="{FF2B5EF4-FFF2-40B4-BE49-F238E27FC236}">
                <a16:creationId xmlns:a16="http://schemas.microsoft.com/office/drawing/2014/main" id="{16B8DE08-64F4-EEEF-8F69-062D081CFC21}"/>
              </a:ext>
            </a:extLst>
          </p:cNvPr>
          <p:cNvSpPr txBox="1"/>
          <p:nvPr/>
        </p:nvSpPr>
        <p:spPr>
          <a:xfrm>
            <a:off x="607828" y="5632999"/>
            <a:ext cx="11279372" cy="646331"/>
          </a:xfrm>
          <a:prstGeom prst="rect">
            <a:avLst/>
          </a:prstGeom>
          <a:noFill/>
        </p:spPr>
        <p:txBody>
          <a:bodyPr wrap="square">
            <a:spAutoFit/>
          </a:bodyPr>
          <a:lstStyle/>
          <a:p>
            <a:r>
              <a:rPr lang="en-US" b="1" dirty="0"/>
              <a:t>Record</a:t>
            </a:r>
            <a:r>
              <a:rPr lang="en-US" dirty="0"/>
              <a:t> of the materials that compose an artwork, the artwork’s production processes, information about past and present displays and any interventions that may have changed them.</a:t>
            </a:r>
            <a:endParaRPr lang="en-CA" dirty="0"/>
          </a:p>
        </p:txBody>
      </p:sp>
    </p:spTree>
    <p:extLst>
      <p:ext uri="{BB962C8B-B14F-4D97-AF65-F5344CB8AC3E}">
        <p14:creationId xmlns:p14="http://schemas.microsoft.com/office/powerpoint/2010/main" val="3125807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DBC4"/>
        </a:solidFill>
        <a:effectLst/>
      </p:bgPr>
    </p:bg>
    <p:spTree>
      <p:nvGrpSpPr>
        <p:cNvPr id="1" name="">
          <a:extLst>
            <a:ext uri="{FF2B5EF4-FFF2-40B4-BE49-F238E27FC236}">
              <a16:creationId xmlns:a16="http://schemas.microsoft.com/office/drawing/2014/main" id="{F7D77980-253A-43FA-F4AE-5CA27FEB1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5DFEB-9971-2F62-B663-A13B62C9F2F1}"/>
              </a:ext>
            </a:extLst>
          </p:cNvPr>
          <p:cNvSpPr>
            <a:spLocks noGrp="1"/>
          </p:cNvSpPr>
          <p:nvPr>
            <p:ph type="title"/>
          </p:nvPr>
        </p:nvSpPr>
        <p:spPr/>
        <p:txBody>
          <a:bodyPr/>
          <a:lstStyle/>
          <a:p>
            <a:r>
              <a:rPr lang="en-US" b="1" dirty="0">
                <a:solidFill>
                  <a:srgbClr val="143D59"/>
                </a:solidFill>
                <a:latin typeface="Aptos Display" pitchFamily="34" charset="0"/>
                <a:ea typeface="Aptos Display" pitchFamily="34" charset="-122"/>
                <a:cs typeface="Aptos Display" pitchFamily="34" charset="-120"/>
              </a:rPr>
              <a:t>Conclusion</a:t>
            </a:r>
            <a:endParaRPr lang="en-US" dirty="0"/>
          </a:p>
        </p:txBody>
      </p:sp>
      <p:sp>
        <p:nvSpPr>
          <p:cNvPr id="4" name="Date Placeholder 3">
            <a:extLst>
              <a:ext uri="{FF2B5EF4-FFF2-40B4-BE49-F238E27FC236}">
                <a16:creationId xmlns:a16="http://schemas.microsoft.com/office/drawing/2014/main" id="{F96EADED-31AE-B16E-8733-0992F42699A8}"/>
              </a:ext>
            </a:extLst>
          </p:cNvPr>
          <p:cNvSpPr>
            <a:spLocks noGrp="1"/>
          </p:cNvSpPr>
          <p:nvPr>
            <p:ph type="dt" sz="half" idx="10"/>
          </p:nvPr>
        </p:nvSpPr>
        <p:spPr/>
        <p:txBody>
          <a:bodyPr/>
          <a:lstStyle/>
          <a:p>
            <a:fld id="{5C90CA6E-A40E-4A3C-962B-12A8A355AD99}" type="datetime1">
              <a:rPr lang="en-US" smtClean="0"/>
              <a:t>4/15/2026</a:t>
            </a:fld>
            <a:endParaRPr lang="en-US" dirty="0"/>
          </a:p>
        </p:txBody>
      </p:sp>
      <p:sp>
        <p:nvSpPr>
          <p:cNvPr id="5" name="Footer Placeholder 4">
            <a:extLst>
              <a:ext uri="{FF2B5EF4-FFF2-40B4-BE49-F238E27FC236}">
                <a16:creationId xmlns:a16="http://schemas.microsoft.com/office/drawing/2014/main" id="{151C4B07-FDA2-E64A-7124-7468698C136E}"/>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A0499529-0283-E7FE-E047-21BCF998F106}"/>
              </a:ext>
            </a:extLst>
          </p:cNvPr>
          <p:cNvSpPr>
            <a:spLocks noGrp="1"/>
          </p:cNvSpPr>
          <p:nvPr>
            <p:ph type="sldNum" sz="quarter" idx="12"/>
          </p:nvPr>
        </p:nvSpPr>
        <p:spPr/>
        <p:txBody>
          <a:bodyPr/>
          <a:lstStyle/>
          <a:p>
            <a:fld id="{70C12960-6E85-460F-B6E3-5B82CB31AF3D}" type="slidenum">
              <a:rPr lang="en-US" smtClean="0"/>
              <a:t>10</a:t>
            </a:fld>
            <a:endParaRPr lang="en-US" dirty="0"/>
          </a:p>
        </p:txBody>
      </p:sp>
      <p:sp>
        <p:nvSpPr>
          <p:cNvPr id="9" name="TextBox 8">
            <a:extLst>
              <a:ext uri="{FF2B5EF4-FFF2-40B4-BE49-F238E27FC236}">
                <a16:creationId xmlns:a16="http://schemas.microsoft.com/office/drawing/2014/main" id="{AEE78103-9478-7DE0-FCF0-415F012DE479}"/>
              </a:ext>
            </a:extLst>
          </p:cNvPr>
          <p:cNvSpPr txBox="1"/>
          <p:nvPr/>
        </p:nvSpPr>
        <p:spPr>
          <a:xfrm>
            <a:off x="591160" y="2005173"/>
            <a:ext cx="6129336" cy="369332"/>
          </a:xfrm>
          <a:prstGeom prst="rect">
            <a:avLst/>
          </a:prstGeom>
          <a:noFill/>
        </p:spPr>
        <p:txBody>
          <a:bodyPr wrap="square">
            <a:spAutoFit/>
          </a:bodyPr>
          <a:lstStyle/>
          <a:p>
            <a:pPr marL="0" indent="0">
              <a:buNone/>
            </a:pPr>
            <a:r>
              <a:rPr lang="en-US" sz="1800" dirty="0">
                <a:solidFill>
                  <a:srgbClr val="5B6570"/>
                </a:solidFill>
              </a:rPr>
              <a:t>Preservation is an ongoing, negotiated process</a:t>
            </a:r>
            <a:endParaRPr lang="en-US" sz="1800" dirty="0"/>
          </a:p>
        </p:txBody>
      </p:sp>
      <p:sp>
        <p:nvSpPr>
          <p:cNvPr id="11" name="TextBox 10">
            <a:extLst>
              <a:ext uri="{FF2B5EF4-FFF2-40B4-BE49-F238E27FC236}">
                <a16:creationId xmlns:a16="http://schemas.microsoft.com/office/drawing/2014/main" id="{7DB0F493-0C10-7177-F13D-3D7302F134F0}"/>
              </a:ext>
            </a:extLst>
          </p:cNvPr>
          <p:cNvSpPr txBox="1"/>
          <p:nvPr/>
        </p:nvSpPr>
        <p:spPr>
          <a:xfrm>
            <a:off x="723900" y="2920484"/>
            <a:ext cx="10338568" cy="1631216"/>
          </a:xfrm>
          <a:prstGeom prst="rect">
            <a:avLst/>
          </a:prstGeom>
          <a:noFill/>
        </p:spPr>
        <p:txBody>
          <a:bodyPr wrap="square">
            <a:spAutoFit/>
          </a:bodyPr>
          <a:lstStyle/>
          <a:p>
            <a:r>
              <a:rPr lang="en-US" sz="2000" b="1" dirty="0">
                <a:solidFill>
                  <a:srgbClr val="143D59"/>
                </a:solidFill>
              </a:rPr>
              <a:t>1- Preservation is proactive</a:t>
            </a:r>
            <a:r>
              <a:rPr lang="en-US" sz="2000" b="1" dirty="0"/>
              <a:t>: </a:t>
            </a:r>
            <a:r>
              <a:rPr lang="en-US" sz="2000" dirty="0">
                <a:solidFill>
                  <a:srgbClr val="1D1D1F"/>
                </a:solidFill>
              </a:rPr>
              <a:t>Intervention can happen early, not only after a failure.</a:t>
            </a:r>
          </a:p>
          <a:p>
            <a:endParaRPr lang="en-US" sz="2000" dirty="0">
              <a:solidFill>
                <a:srgbClr val="1D1D1F"/>
              </a:solidFill>
            </a:endParaRPr>
          </a:p>
          <a:p>
            <a:r>
              <a:rPr lang="en-US" sz="2000" b="1" dirty="0">
                <a:solidFill>
                  <a:srgbClr val="143D59"/>
                </a:solidFill>
              </a:rPr>
              <a:t>2- Documentation is critical: </a:t>
            </a:r>
            <a:r>
              <a:rPr lang="en-US" sz="2000" dirty="0">
                <a:solidFill>
                  <a:srgbClr val="1D1D1F"/>
                </a:solidFill>
              </a:rPr>
              <a:t>Without records, technical history disappears fast.</a:t>
            </a:r>
            <a:endParaRPr lang="en-US" sz="2000" b="1" dirty="0">
              <a:solidFill>
                <a:srgbClr val="143D59"/>
              </a:solidFill>
            </a:endParaRPr>
          </a:p>
          <a:p>
            <a:endParaRPr lang="en-US" sz="2000" b="1" dirty="0">
              <a:solidFill>
                <a:srgbClr val="1D1D1F"/>
              </a:solidFill>
            </a:endParaRPr>
          </a:p>
          <a:p>
            <a:r>
              <a:rPr lang="en-US" sz="2000" b="1" dirty="0">
                <a:solidFill>
                  <a:srgbClr val="1D1D1F"/>
                </a:solidFill>
              </a:rPr>
              <a:t>3- </a:t>
            </a:r>
            <a:r>
              <a:rPr lang="en-US" sz="2000" b="1" dirty="0">
                <a:solidFill>
                  <a:srgbClr val="143D59"/>
                </a:solidFill>
              </a:rPr>
              <a:t>Collaboration: </a:t>
            </a:r>
            <a:r>
              <a:rPr lang="en-US" sz="2000" dirty="0">
                <a:solidFill>
                  <a:srgbClr val="1D1D1F"/>
                </a:solidFill>
              </a:rPr>
              <a:t>Artists, programmers, curators and conservators shape sustainable care.</a:t>
            </a:r>
            <a:endParaRPr lang="en-US" sz="2000" dirty="0"/>
          </a:p>
        </p:txBody>
      </p:sp>
      <p:sp>
        <p:nvSpPr>
          <p:cNvPr id="13" name="TextBox 12">
            <a:extLst>
              <a:ext uri="{FF2B5EF4-FFF2-40B4-BE49-F238E27FC236}">
                <a16:creationId xmlns:a16="http://schemas.microsoft.com/office/drawing/2014/main" id="{608B476F-EFD6-AD19-92C3-35DA4A44B49D}"/>
              </a:ext>
            </a:extLst>
          </p:cNvPr>
          <p:cNvSpPr txBox="1"/>
          <p:nvPr/>
        </p:nvSpPr>
        <p:spPr>
          <a:xfrm>
            <a:off x="2000249" y="5486399"/>
            <a:ext cx="8315326" cy="646331"/>
          </a:xfrm>
          <a:prstGeom prst="rect">
            <a:avLst/>
          </a:prstGeom>
          <a:noFill/>
        </p:spPr>
        <p:txBody>
          <a:bodyPr wrap="square">
            <a:spAutoFit/>
          </a:bodyPr>
          <a:lstStyle/>
          <a:p>
            <a:r>
              <a:rPr lang="en-US" b="1" i="1" dirty="0">
                <a:solidFill>
                  <a:srgbClr val="002060"/>
                </a:solidFill>
              </a:rPr>
              <a:t>From the paper: “Preserving software-based art is not about freezing technology in time, but about managing change without losing the artwork’s meaning.”</a:t>
            </a:r>
            <a:endParaRPr lang="en-CA" b="1" i="1" dirty="0">
              <a:solidFill>
                <a:srgbClr val="002060"/>
              </a:solidFill>
            </a:endParaRPr>
          </a:p>
        </p:txBody>
      </p:sp>
    </p:spTree>
    <p:extLst>
      <p:ext uri="{BB962C8B-B14F-4D97-AF65-F5344CB8AC3E}">
        <p14:creationId xmlns:p14="http://schemas.microsoft.com/office/powerpoint/2010/main" val="250608335"/>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1165</TotalTime>
  <Words>713</Words>
  <Application>Microsoft Office PowerPoint</Application>
  <PresentationFormat>Widescreen</PresentationFormat>
  <Paragraphs>79</Paragraphs>
  <Slides>10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Grandview Display</vt:lpstr>
      <vt:lpstr>DashVTI</vt:lpstr>
      <vt:lpstr>Preservation of Software-based Art at Tate</vt:lpstr>
      <vt:lpstr>Artwork preservation means preserving both their experience and their technical history.</vt:lpstr>
      <vt:lpstr>Why software-based art is difficult to preserve </vt:lpstr>
      <vt:lpstr>Tate: useful test study</vt:lpstr>
      <vt:lpstr>The artwork lifecycle in the museum</vt:lpstr>
      <vt:lpstr>Main preservation strategies</vt:lpstr>
      <vt:lpstr>Storage</vt:lpstr>
      <vt:lpstr>Intervention: Migration, emulation and anything else  that helps. </vt:lpstr>
      <vt:lpstr>Documentation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Roxana Pena Mendieta</cp:lastModifiedBy>
  <cp:revision>48</cp:revision>
  <dcterms:created xsi:type="dcterms:W3CDTF">2026-04-13T19:34:28Z</dcterms:created>
  <dcterms:modified xsi:type="dcterms:W3CDTF">2026-04-15T19:41:13Z</dcterms:modified>
</cp:coreProperties>
</file>